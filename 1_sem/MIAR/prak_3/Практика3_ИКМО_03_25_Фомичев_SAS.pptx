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58" r:id="rId4"/>
    <p:sldId id="260" r:id="rId5"/>
    <p:sldId id="262" r:id="rId6"/>
    <p:sldId id="265" r:id="rId7"/>
    <p:sldId id="266" r:id="rId8"/>
    <p:sldId id="267" r:id="rId9"/>
    <p:sldId id="268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32B94-45BE-3A8B-AC48-C8B1FACB7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1C8F06-6441-EF9C-7F9F-25959E862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8C8578-F301-4868-6549-50B874C5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DF9C67-FA37-6059-B6E5-23CA996A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C176C-9C36-8AE1-7A4C-A983A0E2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31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25DC2-CD35-18DF-9A5E-7579F962F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E51416-9720-945B-482A-4F3F56B0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7DA5F1-0EFB-DE2B-5206-2D9F7F60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DAEB3B-5C15-61F1-3FEB-6F25E4CE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4BC46E-54B0-F5AA-6078-DB3EA60E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518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6AC65-B96A-1D62-9FFD-BB7108303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B2AF12-8EDD-45B0-2FD4-DAE0D4277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7BE0E4-5034-7F24-69E7-DF5A4582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BC017A-E8F5-0679-FB8D-F22F2E4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429AF7-6334-4DF2-32CB-8B658554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71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0A04C2-B302-5DD3-C217-08A95E19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9C600-5AA4-5BC4-77F7-3632B7216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02C656-98FB-6439-C28E-EA10FEFD8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250A3C-C988-68F5-BD8A-3A3B473C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0330D3-4593-65AD-CE62-5C35FD85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02591E-C242-4376-4074-1643488F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296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72C3F-D0EB-7F05-1FF4-4A5E9C324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75BD93-1DE4-7237-6366-18A1018A3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D7DDB9-D450-9245-FDCD-A0A85D8C4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3A1DCD-EF0E-1CE5-1CC8-201F23FA9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E51930-1FCE-883A-B112-CB5E8FEF9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C3D7C9-E8E3-8652-F8E9-233B9D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6A63A0-D46A-BCD0-6811-0B1DEDC73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64446ED-05D6-C0AD-3213-0AC25057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10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D8A46-702C-A29B-E06F-84E91445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71650A-D67D-2D3D-1FE4-0FEC4783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40C074-5D3D-A0E6-D283-20E63E04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FC4F5C-72D2-DEBC-1645-5D832FC50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0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254584E-1097-786F-6B61-8BE24C42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DCE13B-52FA-B701-705F-642AAE11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B90206-3499-99BE-19D0-C8C78E3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34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6B208-4F2B-FCD2-8E9E-2C81B16D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AF6480-4454-2CF1-0EE8-807B774D0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2AADEB-C4AA-640C-CD84-5758CCF3E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A4A2B3-ED3C-BA6B-423E-FBED70BE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37D271-0388-F6A7-A509-6AE698EF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A97471-25D0-1D4B-3E4F-48883C0A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29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C9408F-797E-4B4F-C38C-C9FF8820F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70EA64D-F27C-6542-217D-B7AA08072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C83B1-A74B-E39E-F3F7-BEC3EC8E7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6E9CAD-D45F-8D47-1C2C-AA39A8E88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B7EC13-0740-9418-88D8-65A0D353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BC3674-E240-6A1F-5BC6-9C5CFE4E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1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DEC1B-6C17-00AC-6942-6B9B175B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D18CF6-2A62-745F-F272-C1E45BD91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AB1269-154B-1C97-3FB9-F28DCA98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C872EA-7112-7BEB-FA4F-BF1DA1A5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2151FD-CC53-C224-46B1-E0621F12E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72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8E706EB-0C69-57CB-8A51-4715D6171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C84611-BD5A-5141-D5C0-C58273B44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CB1B82-F139-738B-201B-E5862B29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197497-7B73-97F1-706B-C63912AB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1EEC61-B6F6-A1DC-FE74-ABA8DA33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83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B70B6-66DA-5A17-0CD1-151D870F6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48230A-25AD-659A-47E3-3D2826F23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3C5517-DAE9-428D-CDA5-7B5D53AE9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5512E-3B83-4129-9DD3-9666DCA86891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C52CCD-DA65-C40C-8B30-528B83C42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9FCF2F-15E2-18BF-92F2-853EF78A0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A946E-C904-48ED-8A32-E461251C7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728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56A632-8E96-40B4-A5AB-CB2007A62F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865" y="261505"/>
            <a:ext cx="890270" cy="100901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AB9F5C-DCC2-4358-95FF-30AE9A847E5A}"/>
              </a:ext>
            </a:extLst>
          </p:cNvPr>
          <p:cNvSpPr/>
          <p:nvPr/>
        </p:nvSpPr>
        <p:spPr>
          <a:xfrm rot="10800000" flipV="1">
            <a:off x="1803348" y="1270520"/>
            <a:ext cx="818471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 eaLnBrk="0" fontAlgn="ctr" hangingPunct="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spcAft>
                <a:spcPts val="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Кафедра </a:t>
            </a:r>
            <a:r>
              <a:rPr lang="ru-RU" sz="1400" b="0" strike="noStrike" spc="-1" dirty="0">
                <a:solidFill>
                  <a:srgbClr val="000000"/>
                </a:solidFill>
                <a:latin typeface="Times New Roman"/>
              </a:rPr>
              <a:t>практическо</a:t>
            </a:r>
            <a:r>
              <a:rPr lang="ru-RU" sz="1400" spc="-1" dirty="0">
                <a:solidFill>
                  <a:srgbClr val="000000"/>
                </a:solidFill>
                <a:latin typeface="Times New Roman"/>
              </a:rPr>
              <a:t>й и прикладной информатики</a:t>
            </a:r>
            <a:endParaRPr lang="ru-RU" sz="1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FEABEA5-C03D-403A-8C0B-A5BEB14F4B31}"/>
              </a:ext>
            </a:extLst>
          </p:cNvPr>
          <p:cNvCxnSpPr/>
          <p:nvPr/>
        </p:nvCxnSpPr>
        <p:spPr>
          <a:xfrm>
            <a:off x="2928000" y="297428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F08E5D6-DE9B-4CCD-9AAE-7E22242A7F34}"/>
              </a:ext>
            </a:extLst>
          </p:cNvPr>
          <p:cNvCxnSpPr/>
          <p:nvPr/>
        </p:nvCxnSpPr>
        <p:spPr>
          <a:xfrm>
            <a:off x="2928000" y="244088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8B79AF-D833-4E25-B745-8B7928E444C4}"/>
              </a:ext>
            </a:extLst>
          </p:cNvPr>
          <p:cNvSpPr/>
          <p:nvPr/>
        </p:nvSpPr>
        <p:spPr>
          <a:xfrm>
            <a:off x="4313655" y="3244334"/>
            <a:ext cx="3564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165"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 №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A717D8-CFAA-4AAC-92B3-2589E63165C7}"/>
              </a:ext>
            </a:extLst>
          </p:cNvPr>
          <p:cNvSpPr/>
          <p:nvPr/>
        </p:nvSpPr>
        <p:spPr>
          <a:xfrm>
            <a:off x="609599" y="3687380"/>
            <a:ext cx="1097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тему: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SAS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5A28A-63CA-45C1-B83B-EE5C7D3D8DF0}"/>
              </a:ext>
            </a:extLst>
          </p:cNvPr>
          <p:cNvSpPr txBox="1"/>
          <p:nvPr/>
        </p:nvSpPr>
        <p:spPr>
          <a:xfrm>
            <a:off x="282102" y="6227163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Фомичев Р.А. Квашнин Ю.В.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F6BB40-BEAF-1D78-0CAC-DB5AFD0664BB}"/>
              </a:ext>
            </a:extLst>
          </p:cNvPr>
          <p:cNvSpPr txBox="1"/>
          <p:nvPr/>
        </p:nvSpPr>
        <p:spPr>
          <a:xfrm>
            <a:off x="3654767" y="6227163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ИКМО-03-25</a:t>
            </a:r>
          </a:p>
        </p:txBody>
      </p:sp>
    </p:spTree>
    <p:extLst>
      <p:ext uri="{BB962C8B-B14F-4D97-AF65-F5344CB8AC3E}">
        <p14:creationId xmlns:p14="http://schemas.microsoft.com/office/powerpoint/2010/main" val="50776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D71D-F74B-A0BE-0FCB-A8864FE7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D086A-6317-1B05-DA72-120CF737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D42C2-6722-C7E3-C5CB-3290A1630718}"/>
              </a:ext>
            </a:extLst>
          </p:cNvPr>
          <p:cNvSpPr txBox="1"/>
          <p:nvPr/>
        </p:nvSpPr>
        <p:spPr>
          <a:xfrm>
            <a:off x="838200" y="1720840"/>
            <a:ext cx="37921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rtl="0"/>
            <a:r>
              <a:rPr lang="en-US" altLang="zh-CN" sz="2400" b="0" i="0" u="none" strike="noStrike" kern="1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SAS</a:t>
            </a:r>
            <a:r>
              <a:rPr lang="ru-RU" altLang="zh-CN" sz="2400" b="0" i="0" u="none" strike="noStrike" kern="1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400" b="0" i="0" u="none" strike="noStrike" kern="1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SAS</a:t>
            </a:r>
            <a:r>
              <a:rPr lang="ru-RU" altLang="zh-CN" sz="2400" b="0" i="0" u="none" strike="noStrike" kern="1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0" i="0" u="none" strike="noStrike" kern="1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Institute</a:t>
            </a:r>
            <a:r>
              <a:rPr lang="ru-RU" altLang="zh-CN" sz="2400" b="0" i="0" u="none" strike="noStrike" kern="10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— старейший и один из наиболее признанных производителей ПО для статистического анализа, бизнес-аналитики, прогнозной аналитики и машинного обучения.</a:t>
            </a:r>
          </a:p>
        </p:txBody>
      </p:sp>
      <p:pic>
        <p:nvPicPr>
          <p:cNvPr id="2054" name="Picture 6" descr="SAS Institute ушел с рынка РФ и уволил одним днем сотрудников российского  офиса / Хабр">
            <a:extLst>
              <a:ext uri="{FF2B5EF4-FFF2-40B4-BE49-F238E27FC236}">
                <a16:creationId xmlns:a16="http://schemas.microsoft.com/office/drawing/2014/main" id="{9E775212-F5D6-5577-5384-5A953ECA4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448" y="1108954"/>
            <a:ext cx="6951449" cy="464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36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98CF8-8959-2B05-6DEB-C899B94BB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Позиции в отчётах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Gartner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2024 Gartner Magic Quadrant for Data Science and Machine Learning">
            <a:extLst>
              <a:ext uri="{FF2B5EF4-FFF2-40B4-BE49-F238E27FC236}">
                <a16:creationId xmlns:a16="http://schemas.microsoft.com/office/drawing/2014/main" id="{B91E44AC-5C83-92FE-F4E5-9514A68760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61"/>
          <a:stretch>
            <a:fillRect/>
          </a:stretch>
        </p:blipFill>
        <p:spPr bwMode="auto">
          <a:xfrm>
            <a:off x="6254074" y="365127"/>
            <a:ext cx="5715000" cy="592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rtner Voice of the customer For Analytics and BI platforms 2023">
            <a:extLst>
              <a:ext uri="{FF2B5EF4-FFF2-40B4-BE49-F238E27FC236}">
                <a16:creationId xmlns:a16="http://schemas.microsoft.com/office/drawing/2014/main" id="{126E5861-C035-9F3B-B2ED-F4E6A689DB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" t="9134" r="9570" b="7524"/>
          <a:stretch>
            <a:fillRect/>
          </a:stretch>
        </p:blipFill>
        <p:spPr bwMode="auto">
          <a:xfrm>
            <a:off x="860089" y="982494"/>
            <a:ext cx="5077838" cy="543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891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8F8EE-B185-B3C6-E680-76379CD8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F23DE-1958-573E-39BB-3915CC5C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 усиления позиций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D4875-65A4-05E5-A46D-E22D307F8380}"/>
              </a:ext>
            </a:extLst>
          </p:cNvPr>
          <p:cNvSpPr txBox="1"/>
          <p:nvPr/>
        </p:nvSpPr>
        <p:spPr>
          <a:xfrm>
            <a:off x="838200" y="1235413"/>
            <a:ext cx="52578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Улучшение платформы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Viya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ирокий аналитический стек и зрелость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Сертификации, аналитические признания, кросс-рейтинги</a:t>
            </a:r>
          </a:p>
          <a:p>
            <a:pPr lvl="0" algn="just">
              <a:lnSpc>
                <a:spcPct val="150000"/>
              </a:lnSpc>
            </a:pP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с экосистемами </a:t>
            </a:r>
          </a:p>
        </p:txBody>
      </p:sp>
      <p:pic>
        <p:nvPicPr>
          <p:cNvPr id="4098" name="Picture 2" descr="Top 12 Advantages of SAS Viya - SAS Users">
            <a:extLst>
              <a:ext uri="{FF2B5EF4-FFF2-40B4-BE49-F238E27FC236}">
                <a16:creationId xmlns:a16="http://schemas.microsoft.com/office/drawing/2014/main" id="{BEA770E0-97FE-801F-D363-1CD11E448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927" y="995806"/>
            <a:ext cx="2013320" cy="1339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6D00C9-1229-035A-21D0-272C1FF30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149" y="2124006"/>
            <a:ext cx="1684506" cy="168450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63B693-472E-B1D4-348A-13509993D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729" y="4823564"/>
            <a:ext cx="1809345" cy="18093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1497446-69E6-43A9-2B81-FFEE3D8A3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927" y="3646251"/>
            <a:ext cx="1519136" cy="15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86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0A49-5B22-1638-D5CE-374A79FA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48F1A-4253-DF62-6C78-80209BBC1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Слабые места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22392-08C0-B57E-3484-047A1FF80A36}"/>
              </a:ext>
            </a:extLst>
          </p:cNvPr>
          <p:cNvSpPr txBox="1"/>
          <p:nvPr/>
        </p:nvSpPr>
        <p:spPr>
          <a:xfrm>
            <a:off x="838200" y="1278791"/>
            <a:ext cx="11000362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Интенсивная конкуренция</a:t>
            </a:r>
            <a:endParaRPr lang="ru-RU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сегменте Analytics конкуренты как Microsoft (Power BI),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Qlik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др. часто воспринимаются как более лёгкие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решения.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Сложность и стоимость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родукты SAS требуют квалифицированную команду из-за сложности в настройке.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Прозрачность и имидж «устаревшего»</a:t>
            </a:r>
          </a:p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многих SAS ассоциируется со старым статистическим ПО.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354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76417-7926-2F8E-3D85-540ADE944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51C56-4C29-150C-81EA-125EE8CD8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 Viya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44B72-84AF-7911-A857-C09BB556A04F}"/>
              </a:ext>
            </a:extLst>
          </p:cNvPr>
          <p:cNvSpPr txBox="1"/>
          <p:nvPr/>
        </p:nvSpPr>
        <p:spPr>
          <a:xfrm>
            <a:off x="838200" y="1108954"/>
            <a:ext cx="11000362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Основные характеристики:</a:t>
            </a:r>
          </a:p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Объединяет аналитические, статистические, ML/AI, визуализацию и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возможности.</a:t>
            </a:r>
          </a:p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Поддержка как “код +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low-code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no-code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сценариев: для разработчиков, экспертов, бизнес-аналитиков.</a:t>
            </a:r>
          </a:p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Контейнеризированная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архитектура, гибридные / облачные развертывания.</a:t>
            </a:r>
          </a:p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Интеграция с внешними источниками данных, поддержка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библиотек, расширяемость через API и SDK.</a:t>
            </a:r>
          </a:p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Модельное управление (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ModelOps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автоматизация, мониторинг, переобучение моделей и жизненный цикл.</a:t>
            </a:r>
          </a:p>
        </p:txBody>
      </p:sp>
    </p:spTree>
    <p:extLst>
      <p:ext uri="{BB962C8B-B14F-4D97-AF65-F5344CB8AC3E}">
        <p14:creationId xmlns:p14="http://schemas.microsoft.com/office/powerpoint/2010/main" val="44247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EA6F-534B-C794-9B5C-7450EB55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F5E7C-BE20-0816-FA51-E5EC802F0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 Viya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F3D9EC-8DD4-5841-4F73-5AE5F48CC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02" y="1108954"/>
            <a:ext cx="10408596" cy="510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48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6286-7B2F-7684-11B2-13A36C498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02167-48D5-F7FC-3D6F-657F86485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 Viya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D7E525-16A3-DB5D-7D51-8A95A73BD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08954"/>
            <a:ext cx="10515601" cy="520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1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817C0-589A-664A-FD62-A2C8D8B39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B335F-2BC6-9C27-CC9D-246130AAF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 Viya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E2FEDC-00CA-8A27-72DB-FC0BD0108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08954"/>
            <a:ext cx="10516022" cy="503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56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7431F-AA9A-31D2-24AE-0133B9F5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31CFE-6760-461D-317E-A4A3A774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2CBD8-1415-C1AD-0659-7D156F9DA437}"/>
              </a:ext>
            </a:extLst>
          </p:cNvPr>
          <p:cNvSpPr txBox="1"/>
          <p:nvPr/>
        </p:nvSpPr>
        <p:spPr>
          <a:xfrm>
            <a:off x="838200" y="1108954"/>
            <a:ext cx="11000362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2024 году SAS занял лидирующую позицию в Gartner Magic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Quadrant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 &amp; Machine Learning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платформой SAS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Viya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свидетельство успешной трансформации и укрепления позиций в сегменте ML/AI.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дальнейшего роста SAS следует: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Усилить маркетинговое позиционирование как современного AI/ML лидера, переломить восприятие “старого ПО”.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Развивать лёгкие, быстрые модули для средних компаний — “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entry-level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версии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Viya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Расширять партнёрства с облачными провайдерами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экосистемами данных, чтобы усиливать проникновение и гибкость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2314285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346</Words>
  <Application>Microsoft Office PowerPoint</Application>
  <PresentationFormat>Широкоэкранный</PresentationFormat>
  <Paragraphs>45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Введение</vt:lpstr>
      <vt:lpstr>Позиции в отчётах Gartner</vt:lpstr>
      <vt:lpstr>Факторы усиления позиций</vt:lpstr>
      <vt:lpstr>Слабые места </vt:lpstr>
      <vt:lpstr>SAS Viya </vt:lpstr>
      <vt:lpstr>SAS Viya </vt:lpstr>
      <vt:lpstr>SAS Viya </vt:lpstr>
      <vt:lpstr>SAS Viya 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3BE3DA</dc:creator>
  <cp:lastModifiedBy>3BE3DA</cp:lastModifiedBy>
  <cp:revision>10</cp:revision>
  <dcterms:created xsi:type="dcterms:W3CDTF">2025-09-25T11:19:08Z</dcterms:created>
  <dcterms:modified xsi:type="dcterms:W3CDTF">2025-10-05T11:53:26Z</dcterms:modified>
</cp:coreProperties>
</file>