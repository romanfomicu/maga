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4" r:id="rId2"/>
    <p:sldId id="259" r:id="rId3"/>
    <p:sldId id="257" r:id="rId4"/>
    <p:sldId id="258" r:id="rId5"/>
    <p:sldId id="260" r:id="rId6"/>
    <p:sldId id="261" r:id="rId7"/>
    <p:sldId id="265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58" d="100"/>
          <a:sy n="158" d="100"/>
        </p:scale>
        <p:origin x="426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F5C92371-AF37-4F9E-8EDD-8FEE52DB4D2B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383D8C4C-5845-4FE2-9206-E19B964E433A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63148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92371-AF37-4F9E-8EDD-8FEE52DB4D2B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D8C4C-5845-4FE2-9206-E19B964E43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139184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92371-AF37-4F9E-8EDD-8FEE52DB4D2B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D8C4C-5845-4FE2-9206-E19B964E433A}" type="slidenum">
              <a:rPr lang="ru-RU" smtClean="0"/>
              <a:t>‹#›</a:t>
            </a:fld>
            <a:endParaRPr lang="ru-RU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098941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92371-AF37-4F9E-8EDD-8FEE52DB4D2B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D8C4C-5845-4FE2-9206-E19B964E43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3609332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92371-AF37-4F9E-8EDD-8FEE52DB4D2B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D8C4C-5845-4FE2-9206-E19B964E433A}" type="slidenum">
              <a:rPr lang="ru-RU" smtClean="0"/>
              <a:t>‹#›</a:t>
            </a:fld>
            <a:endParaRPr lang="ru-RU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953559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92371-AF37-4F9E-8EDD-8FEE52DB4D2B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D8C4C-5845-4FE2-9206-E19B964E433A}" type="slidenum">
              <a:rPr lang="ru-RU" smtClean="0"/>
              <a:t>‹#›</a:t>
            </a:fld>
            <a:endParaRPr lang="ru-RU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122595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92371-AF37-4F9E-8EDD-8FEE52DB4D2B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D8C4C-5845-4FE2-9206-E19B964E43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493277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92371-AF37-4F9E-8EDD-8FEE52DB4D2B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D8C4C-5845-4FE2-9206-E19B964E433A}" type="slidenum">
              <a:rPr lang="ru-RU" smtClean="0"/>
              <a:t>‹#›</a:t>
            </a:fld>
            <a:endParaRPr lang="ru-RU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726680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92371-AF37-4F9E-8EDD-8FEE52DB4D2B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D8C4C-5845-4FE2-9206-E19B964E43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90052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92371-AF37-4F9E-8EDD-8FEE52DB4D2B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D8C4C-5845-4FE2-9206-E19B964E43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13002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92371-AF37-4F9E-8EDD-8FEE52DB4D2B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D8C4C-5845-4FE2-9206-E19B964E433A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259192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92371-AF37-4F9E-8EDD-8FEE52DB4D2B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D8C4C-5845-4FE2-9206-E19B964E433A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498962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92371-AF37-4F9E-8EDD-8FEE52DB4D2B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D8C4C-5845-4FE2-9206-E19B964E43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5951339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92371-AF37-4F9E-8EDD-8FEE52DB4D2B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D8C4C-5845-4FE2-9206-E19B964E433A}" type="slidenum">
              <a:rPr lang="ru-RU" smtClean="0"/>
              <a:t>‹#›</a:t>
            </a:fld>
            <a:endParaRPr lang="ru-RU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291334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92371-AF37-4F9E-8EDD-8FEE52DB4D2B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D8C4C-5845-4FE2-9206-E19B964E433A}" type="slidenum">
              <a:rPr lang="ru-RU" smtClean="0"/>
              <a:t>‹#›</a:t>
            </a:fld>
            <a:endParaRPr lang="ru-RU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8341873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92371-AF37-4F9E-8EDD-8FEE52DB4D2B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D8C4C-5845-4FE2-9206-E19B964E433A}" type="slidenum">
              <a:rPr lang="ru-RU" smtClean="0"/>
              <a:t>‹#›</a:t>
            </a:fld>
            <a:endParaRPr lang="ru-RU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713010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C92371-AF37-4F9E-8EDD-8FEE52DB4D2B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3D8C4C-5845-4FE2-9206-E19B964E433A}" type="slidenum">
              <a:rPr lang="ru-RU" smtClean="0"/>
              <a:t>‹#›</a:t>
            </a:fld>
            <a:endParaRPr lang="ru-RU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288411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5C92371-AF37-4F9E-8EDD-8FEE52DB4D2B}" type="datetimeFigureOut">
              <a:rPr lang="ru-RU" smtClean="0"/>
              <a:t>10.12.2025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83D8C4C-5845-4FE2-9206-E19B964E433A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1215275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psytests.org/multi/cat16pfA-run.html?ysclid=mfcfcx9qqh576087834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psytests.org/multi/cat16pfA-run.html?ysclid=mfcfcx9qqh576087834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mailto:shpetrosyan@data-economy.ru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38B64B-18CF-4FC6-8B5A-0A703BF07E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Практическое занятие № 4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BE7C897-DEFB-456C-BEFA-123C0014DC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ru-RU" dirty="0"/>
              <a:t>Институт: </a:t>
            </a:r>
            <a:r>
              <a:rPr lang="ru-RU" b="1" dirty="0"/>
              <a:t>Технологий управления</a:t>
            </a:r>
            <a:br>
              <a:rPr lang="ru-RU" dirty="0"/>
            </a:br>
            <a:r>
              <a:rPr lang="ru-RU" dirty="0"/>
              <a:t>Кафедра: </a:t>
            </a:r>
            <a:r>
              <a:rPr lang="ru-RU" b="1" dirty="0"/>
              <a:t>Наилучших доступных технологий и регуляторных практик</a:t>
            </a:r>
            <a:br>
              <a:rPr lang="ru-RU" dirty="0"/>
            </a:br>
            <a:r>
              <a:rPr lang="ru-RU" dirty="0"/>
              <a:t>Дисциплина: </a:t>
            </a:r>
            <a:r>
              <a:rPr lang="ru-RU" b="1" dirty="0"/>
              <a:t>Технологии личностного роста</a:t>
            </a:r>
            <a:br>
              <a:rPr lang="ru-RU" dirty="0"/>
            </a:br>
            <a:r>
              <a:rPr lang="ru-RU" dirty="0"/>
              <a:t>Преподаватель: </a:t>
            </a:r>
            <a:r>
              <a:rPr lang="ru-RU" b="1" dirty="0"/>
              <a:t>Петросян Ш.Г.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31404958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80BC24F-64A4-4109-8E5C-1643630571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u="sng" dirty="0">
                <a:hlinkClick r:id="rId2"/>
              </a:rPr>
              <a:t>Задание </a:t>
            </a:r>
            <a:br>
              <a:rPr lang="ru-RU" u="sng" dirty="0">
                <a:hlinkClick r:id="rId2"/>
              </a:rPr>
            </a:br>
            <a:r>
              <a:rPr lang="ru-RU" u="sng" dirty="0">
                <a:hlinkClick r:id="rId2"/>
              </a:rPr>
              <a:t>Тест </a:t>
            </a:r>
            <a:r>
              <a:rPr lang="ru-RU" u="sng" dirty="0" err="1">
                <a:hlinkClick r:id="rId2"/>
              </a:rPr>
              <a:t>Кеттелла</a:t>
            </a:r>
            <a:r>
              <a:rPr lang="ru-RU" u="sng" dirty="0">
                <a:hlinkClick r:id="rId2"/>
              </a:rPr>
              <a:t>, 16</a:t>
            </a:r>
            <a:r>
              <a:rPr lang="en-US" u="sng" dirty="0">
                <a:hlinkClick r:id="rId2"/>
              </a:rPr>
              <a:t>PF/A</a:t>
            </a:r>
            <a:endParaRPr lang="ru-RU" dirty="0"/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BE883B28-8EC7-4645-864E-019E6EE790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 marL="0" indent="0">
              <a:buNone/>
            </a:pPr>
            <a:r>
              <a:rPr lang="ru-RU" dirty="0"/>
              <a:t>16-факторный личностный опросник (</a:t>
            </a:r>
            <a:r>
              <a:rPr lang="ru-RU" dirty="0" err="1"/>
              <a:t>Sixteen</a:t>
            </a:r>
            <a:r>
              <a:rPr lang="ru-RU" dirty="0"/>
              <a:t> </a:t>
            </a:r>
            <a:r>
              <a:rPr lang="ru-RU" dirty="0" err="1"/>
              <a:t>Personality</a:t>
            </a:r>
            <a:r>
              <a:rPr lang="ru-RU" dirty="0"/>
              <a:t> </a:t>
            </a:r>
            <a:r>
              <a:rPr lang="ru-RU" dirty="0" err="1"/>
              <a:t>Factor</a:t>
            </a:r>
            <a:r>
              <a:rPr lang="ru-RU" dirty="0"/>
              <a:t> </a:t>
            </a:r>
            <a:r>
              <a:rPr lang="ru-RU" dirty="0" err="1"/>
              <a:t>Questionnaire</a:t>
            </a:r>
            <a:r>
              <a:rPr lang="ru-RU" dirty="0"/>
              <a:t>)</a:t>
            </a:r>
            <a:endParaRPr lang="ru-RU" b="0" dirty="0">
              <a:effectLst/>
            </a:endParaRPr>
          </a:p>
          <a:p>
            <a:pPr marL="0" indent="0">
              <a:buNone/>
            </a:pPr>
            <a:br>
              <a:rPr lang="ru-RU" b="0" dirty="0">
                <a:effectLst/>
              </a:rPr>
            </a:br>
            <a:r>
              <a:rPr lang="ru-RU" dirty="0"/>
              <a:t>Опросник под названием 16PF уже названием говорит о том, что в результате его прохождения человек будет определен в одну из 16 групп. Метод создан психологом </a:t>
            </a:r>
            <a:r>
              <a:rPr lang="ru-RU" dirty="0" err="1"/>
              <a:t>Реймондом</a:t>
            </a:r>
            <a:r>
              <a:rPr lang="ru-RU" dirty="0"/>
              <a:t> </a:t>
            </a:r>
            <a:r>
              <a:rPr lang="ru-RU" dirty="0" err="1"/>
              <a:t>Кеттеллом</a:t>
            </a:r>
            <a:r>
              <a:rPr lang="ru-RU" dirty="0"/>
              <a:t> в 1949 году, включает в себя 187 пунктов, определяющих способность респондента реагировать на определенные события в рабочей обстановке.</a:t>
            </a:r>
            <a:endParaRPr lang="ru-RU" b="0" dirty="0">
              <a:effectLst/>
            </a:endParaRPr>
          </a:p>
          <a:p>
            <a:pPr marL="0" indent="0">
              <a:buNone/>
            </a:pPr>
            <a:br>
              <a:rPr lang="ru-RU" b="0" dirty="0">
                <a:effectLst/>
              </a:rPr>
            </a:br>
            <a:r>
              <a:rPr lang="ru-RU" dirty="0"/>
              <a:t>Ответы на вопросы односложные: «да», «нет», «не знаю» (не определился). Тест считается эффективным, он оценивает не личность в целом, что не нужно для компании, а способность к принятию практических решений, которые может дать соискатель или работник.</a:t>
            </a:r>
            <a:endParaRPr lang="ru-RU" b="0" dirty="0">
              <a:effectLst/>
            </a:endParaRPr>
          </a:p>
          <a:p>
            <a:pPr marL="0" indent="0">
              <a:buNone/>
            </a:pPr>
            <a:br>
              <a:rPr lang="ru-RU" dirty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5089938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Объект 3">
            <a:extLst>
              <a:ext uri="{FF2B5EF4-FFF2-40B4-BE49-F238E27FC236}">
                <a16:creationId xmlns:a16="http://schemas.microsoft.com/office/drawing/2014/main" id="{4506E9B9-AB3C-47C9-A8D3-04EF2D7F30F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864298" y="508349"/>
            <a:ext cx="7979497" cy="58413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105006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82DCC0D-FFBE-4C7D-BF14-FD45D26993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88596" y="576206"/>
            <a:ext cx="5534312" cy="57055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53968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>
            <a:extLst>
              <a:ext uri="{FF2B5EF4-FFF2-40B4-BE49-F238E27FC236}">
                <a16:creationId xmlns:a16="http://schemas.microsoft.com/office/drawing/2014/main" id="{FC152024-217C-4DD4-A213-B243BEE6B6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r>
              <a:rPr lang="ru-RU" dirty="0"/>
              <a:t>Ссылка для прохождения теста </a:t>
            </a:r>
          </a:p>
          <a:p>
            <a:pPr marL="0" indent="0" algn="ctr">
              <a:buNone/>
            </a:pPr>
            <a:r>
              <a:rPr lang="ru-RU" dirty="0">
                <a:hlinkClick r:id="rId2"/>
              </a:rPr>
              <a:t>Пройти тест: Тест </a:t>
            </a:r>
            <a:r>
              <a:rPr lang="ru-RU" dirty="0" err="1">
                <a:hlinkClick r:id="rId2"/>
              </a:rPr>
              <a:t>Кеттелла</a:t>
            </a:r>
            <a:r>
              <a:rPr lang="ru-RU" dirty="0">
                <a:hlinkClick r:id="rId2"/>
              </a:rPr>
              <a:t>, 16PF/A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02870211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3FD5454-FD3E-4CB6-A2D5-CAB8098197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После прохождения теста: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F0DBF413-B20C-4AC5-9ED7-E8A7ACE3F8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5402" y="2407643"/>
            <a:ext cx="9601196" cy="3318936"/>
          </a:xfrm>
        </p:spPr>
        <p:txBody>
          <a:bodyPr/>
          <a:lstStyle/>
          <a:p>
            <a:pPr marL="0" indent="0">
              <a:buNone/>
            </a:pPr>
            <a:br>
              <a:rPr lang="ru-RU" dirty="0"/>
            </a:br>
            <a:r>
              <a:rPr lang="ru-RU" dirty="0"/>
              <a:t>1) Посмотреть интерпретацию первичных факторов</a:t>
            </a:r>
          </a:p>
          <a:p>
            <a:pPr marL="0" indent="0">
              <a:buNone/>
            </a:pPr>
            <a:r>
              <a:rPr lang="ru-RU" dirty="0"/>
              <a:t>2) Посмотреть интерпретацию вторичных факторов</a:t>
            </a:r>
          </a:p>
          <a:p>
            <a:pPr marL="0" indent="0">
              <a:buNone/>
            </a:pPr>
            <a:r>
              <a:rPr lang="ru-RU" dirty="0"/>
              <a:t>3) Контрольные шкалы</a:t>
            </a:r>
          </a:p>
          <a:p>
            <a:pPr marL="0" indent="0">
              <a:buNone/>
            </a:pPr>
            <a:r>
              <a:rPr lang="ru-RU" dirty="0"/>
              <a:t>4) Посмотреть интерпретацию парных сочетаний первичных факторов</a:t>
            </a:r>
          </a:p>
          <a:p>
            <a:pPr marL="0" indent="0">
              <a:buNone/>
            </a:pPr>
            <a:r>
              <a:rPr lang="ru-RU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5) Сопоставить свои результаты с личным </a:t>
            </a:r>
            <a:r>
              <a:rPr lang="en-GB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swot-</a:t>
            </a:r>
            <a:r>
              <a:rPr lang="ru-RU" dirty="0">
                <a:solidFill>
                  <a:schemeClr val="accent4">
                    <a:lumMod val="60000"/>
                    <a:lumOff val="40000"/>
                  </a:schemeClr>
                </a:solidFill>
              </a:rPr>
              <a:t>анализом, найти корреляции и несоответствия </a:t>
            </a:r>
          </a:p>
        </p:txBody>
      </p:sp>
    </p:spTree>
    <p:extLst>
      <p:ext uri="{BB962C8B-B14F-4D97-AF65-F5344CB8AC3E}">
        <p14:creationId xmlns:p14="http://schemas.microsoft.com/office/powerpoint/2010/main" val="38934806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F38B64B-18CF-4FC6-8B5A-0A703BF07E8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ru-RU" dirty="0"/>
              <a:t>Спасибо!</a:t>
            </a:r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2BE7C897-DEFB-456C-BEFA-123C0014DCA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ru-RU" dirty="0"/>
              <a:t>По вопросам обращаться к преподавателю </a:t>
            </a:r>
          </a:p>
          <a:p>
            <a:r>
              <a:rPr lang="ru-RU" dirty="0"/>
              <a:t>Петросян </a:t>
            </a:r>
            <a:r>
              <a:rPr lang="ru-RU" dirty="0" err="1"/>
              <a:t>Шушанне</a:t>
            </a:r>
            <a:r>
              <a:rPr lang="ru-RU" dirty="0"/>
              <a:t> </a:t>
            </a:r>
            <a:r>
              <a:rPr lang="ru-RU" dirty="0" err="1"/>
              <a:t>Геворковне</a:t>
            </a:r>
            <a:br>
              <a:rPr lang="ru-RU" dirty="0"/>
            </a:br>
            <a:br>
              <a:rPr lang="ru-RU" dirty="0"/>
            </a:br>
            <a:r>
              <a:rPr lang="ru-RU" dirty="0"/>
              <a:t>Контакты: </a:t>
            </a:r>
            <a:br>
              <a:rPr lang="ru-RU" dirty="0"/>
            </a:br>
            <a:r>
              <a:rPr lang="ru-RU" dirty="0"/>
              <a:t>ТГ</a:t>
            </a:r>
            <a:r>
              <a:rPr lang="en-GB" dirty="0"/>
              <a:t> </a:t>
            </a:r>
            <a:r>
              <a:rPr lang="en-US" dirty="0"/>
              <a:t>@Shushanna108</a:t>
            </a:r>
            <a:endParaRPr lang="ru-RU" dirty="0"/>
          </a:p>
          <a:p>
            <a:r>
              <a:rPr lang="en-US" dirty="0">
                <a:hlinkClick r:id="rId2"/>
              </a:rPr>
              <a:t>shpetrosyan@data-economy.ru</a:t>
            </a:r>
            <a:endParaRPr lang="ru-RU" dirty="0"/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3101302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Натуральные материалы">
  <a:themeElements>
    <a:clrScheme name="Натуральные материалы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Натуральные материалы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Натуральные материалы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Organic</Template>
  <TotalTime>343</TotalTime>
  <Words>231</Words>
  <Application>Microsoft Office PowerPoint</Application>
  <PresentationFormat>Широкоэкранный</PresentationFormat>
  <Paragraphs>19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2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0" baseType="lpstr">
      <vt:lpstr>Arial</vt:lpstr>
      <vt:lpstr>Garamond</vt:lpstr>
      <vt:lpstr>Натуральные материалы</vt:lpstr>
      <vt:lpstr>Практическое занятие № 4</vt:lpstr>
      <vt:lpstr>Задание  Тест Кеттелла, 16PF/A</vt:lpstr>
      <vt:lpstr>Презентация PowerPoint</vt:lpstr>
      <vt:lpstr>Презентация PowerPoint</vt:lpstr>
      <vt:lpstr>Презентация PowerPoint</vt:lpstr>
      <vt:lpstr>После прохождения теста:</vt:lpstr>
      <vt:lpstr>Спасибо!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Практическое занятие  03.11.2025</dc:title>
  <dc:creator>shush</dc:creator>
  <cp:lastModifiedBy>shush</cp:lastModifiedBy>
  <cp:revision>9</cp:revision>
  <dcterms:created xsi:type="dcterms:W3CDTF">2025-10-28T13:44:26Z</dcterms:created>
  <dcterms:modified xsi:type="dcterms:W3CDTF">2025-12-10T08:11:02Z</dcterms:modified>
</cp:coreProperties>
</file>