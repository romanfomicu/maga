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8" r:id="rId3"/>
    <p:sldId id="257" r:id="rId4"/>
    <p:sldId id="259" r:id="rId5"/>
    <p:sldId id="360" r:id="rId6"/>
    <p:sldId id="260" r:id="rId7"/>
    <p:sldId id="261" r:id="rId8"/>
    <p:sldId id="262" r:id="rId9"/>
    <p:sldId id="353" r:id="rId10"/>
    <p:sldId id="354" r:id="rId11"/>
    <p:sldId id="355" r:id="rId12"/>
    <p:sldId id="264" r:id="rId13"/>
    <p:sldId id="265" r:id="rId14"/>
    <p:sldId id="266" r:id="rId15"/>
    <p:sldId id="349" r:id="rId16"/>
    <p:sldId id="356" r:id="rId17"/>
    <p:sldId id="350" r:id="rId18"/>
    <p:sldId id="351" r:id="rId19"/>
    <p:sldId id="271" r:id="rId20"/>
    <p:sldId id="352" r:id="rId21"/>
    <p:sldId id="357" r:id="rId22"/>
    <p:sldId id="358" r:id="rId23"/>
    <p:sldId id="278" r:id="rId24"/>
    <p:sldId id="279" r:id="rId25"/>
    <p:sldId id="280" r:id="rId26"/>
    <p:sldId id="282" r:id="rId27"/>
    <p:sldId id="359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94660"/>
  </p:normalViewPr>
  <p:slideViewPr>
    <p:cSldViewPr snapToGrid="0">
      <p:cViewPr varScale="1">
        <p:scale>
          <a:sx n="79" d="100"/>
          <a:sy n="79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80C-4BD5-B58E-BB07539F8701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80C-4BD5-B58E-BB07539F8701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C80C-4BD5-B58E-BB07539F8701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C80C-4BD5-B58E-BB07539F8701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C80C-4BD5-B58E-BB07539F8701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C80C-4BD5-B58E-BB07539F870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Лист1!$A$2:$A$7</c:f>
              <c:strCache>
                <c:ptCount val="6"/>
                <c:pt idx="0">
                  <c:v>Сырье и материалы</c:v>
                </c:pt>
                <c:pt idx="1">
                  <c:v>Основная заработная плата</c:v>
                </c:pt>
                <c:pt idx="2">
                  <c:v>Дополнительная заработная плата</c:v>
                </c:pt>
                <c:pt idx="3">
                  <c:v>Страховые взносы</c:v>
                </c:pt>
                <c:pt idx="4">
                  <c:v>Амортизация</c:v>
                </c:pt>
                <c:pt idx="5">
                  <c:v>Прочие расходы</c:v>
                </c:pt>
              </c:strCache>
            </c:strRef>
          </c:cat>
          <c:val>
            <c:numRef>
              <c:f>Лист1!$B$2:$B$7</c:f>
              <c:numCache>
                <c:formatCode>General</c:formatCode>
                <c:ptCount val="6"/>
                <c:pt idx="0">
                  <c:v>0.92</c:v>
                </c:pt>
                <c:pt idx="1">
                  <c:v>36.11</c:v>
                </c:pt>
                <c:pt idx="2">
                  <c:v>8.67</c:v>
                </c:pt>
                <c:pt idx="3">
                  <c:v>13.52</c:v>
                </c:pt>
                <c:pt idx="4">
                  <c:v>0.71</c:v>
                </c:pt>
                <c:pt idx="5">
                  <c:v>40.08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Лист1!$B$1</c15:sqref>
                        </c15:formulaRef>
                      </c:ext>
                    </c:extLst>
                    <c:strCache>
                      <c:ptCount val="1"/>
                      <c:pt idx="0">
                        <c:v>Столбец1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C-C80C-4BD5-B58E-BB07539F8701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735DC24-526C-81F8-9DF8-B4931FBA56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A0A610B-7A81-4CE3-8162-236A689A50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74F3D-42E0-4A72-BB15-FEEFA00A8C87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2C8B893-20FE-1DC2-8F96-2232DBE847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3A27C2-D6D6-6F76-9FF0-BED1550087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7E86D-A132-4DAF-B3FF-F7AA28123C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5575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57816-A24D-4928-AF2B-A04B375111FB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3245D-039D-4E3B-BE2B-5F0A4ACD7E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9050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532BC-312D-4139-981D-664EC21589A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1351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C36C1-1AD7-8D1F-9B03-52302DB1C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B39BD8C-0934-EC8B-6A9F-06FDE5977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021564-BF1E-FC7D-BE53-3714FD25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BE0D-9C57-4A4A-94C6-190D92E06281}" type="datetime1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AD17B4-CE12-8515-519B-E4008F61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2D18E9-07A6-4583-4A35-DF29E4DE5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518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BB04B-6D01-7EA2-72F1-DD61A92B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4DDC3E-27C6-BA93-60A3-61CD2940A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954F04-3728-E606-8FED-789E9485F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044A-2533-41FD-8279-E4D173C1F810}" type="datetime1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101A62-942C-3431-D03C-F157F8B57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720CC7-B193-3E3D-83BB-C6ED9EF9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07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6D2AB-7132-ED33-0ACD-33A1E197C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20E0E5-E9C0-DDD9-7BDF-74C73560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99915F-A3DD-9A69-00A9-5807008B8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C53B0-D1DB-4D1F-A664-FEA166BEF522}" type="datetime1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4F1892-E061-C6E2-A319-D8EBBFBB8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CA92DC-FE14-77D5-39CA-88BBC8557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2075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2C28C-DE16-62FA-327B-671264676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5FE5EA-4F59-9E2B-F690-B7FE7FD340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5F252E-CAE0-2848-9989-9C98F0DDD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FC828E5-D6C5-29D5-6523-3BD653CFA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2612F-9D4B-466C-834E-7C95B1A5DE4D}" type="datetime1">
              <a:rPr lang="ru-RU" smtClean="0"/>
              <a:t>25.01.2026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9C4D04-23F4-BC1C-B6ED-54A322E9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076ED7-DC2F-0E0F-12E7-00F1DA8A0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814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C3822B-1EB9-3215-0732-CB3CAC5A1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C3425C-4D24-BAB7-AB53-3D9A891A4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629008F-0C61-BC25-11BD-7314EAD93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14CDB09-6C7D-92EB-87AC-4E64299C3E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9A6203B-AFB0-A852-A84C-8020861D2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7BBE282-91B0-02AE-F20A-6CC7F5FFE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7E8F-95CB-46F2-8677-85001041AD07}" type="datetime1">
              <a:rPr lang="ru-RU" smtClean="0"/>
              <a:t>25.01.2026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A05C2A-72A0-1FCA-E6C9-2CB952F0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370865E-E2C3-DAC0-7A8C-72228928E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9145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2621D1-E920-D0CD-87BE-844FEE5A4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B59F917-CF64-5A0A-4F31-4B054A116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0D01A-1328-4A18-B583-F796910629F0}" type="datetime1">
              <a:rPr lang="ru-RU" smtClean="0"/>
              <a:t>25.01.2026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D1EC542-267E-A4C8-F432-DA24A40D9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6ED4A9A-A575-92E1-5808-2E0007D71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752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4C405B6-C6A6-B20E-C370-9D89480FF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6EF01-3957-49F2-815F-AECFA400DBB2}" type="datetime1">
              <a:rPr lang="ru-RU" smtClean="0"/>
              <a:t>25.01.2026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E73FEC4-2D7A-7FAB-DA19-5FB736FC3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535002-6C3B-4E65-AFD0-D464CE25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434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382E0-CD1E-040D-7A8A-ED961B21D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3B3543-0AFC-C08D-DF96-946E2F378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384543-2E96-47A0-A1B8-08132EE6B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FE56B1-B694-CAD3-1A22-AEE2B6A33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F73A-AC30-4448-B85F-CA5236BC677E}" type="datetime1">
              <a:rPr lang="ru-RU" smtClean="0"/>
              <a:t>25.01.2026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39B09F-ECE7-EEB7-B962-66844EC89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557079-7959-6EFE-0D56-9AC2781F8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013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26988-4D77-5F58-447A-C434EC99D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CCA606C-2A1D-2841-6C76-09D38C1578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F0280A7-F4F5-1E1B-193C-5333DE89A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9742C2-4378-0AA9-7C2D-5F47DF09B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FCC2C-8EF1-48E0-9F1D-D31B13BA9AFC}" type="datetime1">
              <a:rPr lang="ru-RU" smtClean="0"/>
              <a:t>25.01.2026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2E16C7-D709-0D24-CC31-13172518B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6B92D6-DFC8-F887-5969-A7E50272A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115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2846A0-FB3A-BE74-05CE-FE945A39A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0F3133-0054-62AC-0C86-3D7D94734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2A1D06-BFEB-C213-80F6-5B763AAC7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04ADA-5C49-4457-9C64-C5E995B2258C}" type="datetime1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B8CF4E-F83E-E085-B869-D2BA7BA17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0D2959-0BE3-8205-502E-6B0326B7B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43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5793FBD-5427-0386-FE69-EFDE31D57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65D49B1-5394-3A09-5413-5319761A8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782F87-FF73-F636-18F7-E81A53801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9945-B288-4FDB-8BDE-696B848C8FC9}" type="datetime1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1082C1-6CEE-AAF2-78EF-79B6886DC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8CC4B1-2D76-6C8F-5A97-7C122EC38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0685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117D05-3AA9-AC16-7563-FFB400EEC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2D8271-ED53-3766-4F3F-3E728D596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0BBEB4-08A4-998A-F714-F9E5495CDB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893FB-03B3-4BE3-8C90-CAF7A0E00136}" type="datetime1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EF291C-070A-CD5A-1DBB-A02B59B38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324A5A-5795-1AE3-28B4-13ABFA753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01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56A632-8E96-40B4-A5AB-CB2007A62F4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865" y="261505"/>
            <a:ext cx="890270" cy="1009015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EAB9F5C-DCC2-4358-95FF-30AE9A847E5A}"/>
              </a:ext>
            </a:extLst>
          </p:cNvPr>
          <p:cNvSpPr/>
          <p:nvPr/>
        </p:nvSpPr>
        <p:spPr>
          <a:xfrm rot="10800000" flipV="1">
            <a:off x="1803348" y="1270520"/>
            <a:ext cx="8184714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 eaLnBrk="0" fontAlgn="ctr" hangingPunct="0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МИНОБРНАУКИ РОССИИ</a:t>
            </a:r>
          </a:p>
          <a:p>
            <a:pPr indent="450215" algn="ctr" eaLnBrk="0" fontAlgn="ctr" hangingPunct="0">
              <a:spcAft>
                <a:spcPts val="0"/>
              </a:spcAft>
            </a:pPr>
            <a:r>
              <a:rPr lang="ru-RU" sz="14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 eaLnBrk="0" fontAlgn="ctr" hangingPunct="0">
              <a:spcAft>
                <a:spcPts val="0"/>
              </a:spcAft>
            </a:pPr>
            <a:r>
              <a:rPr lang="ru-RU" sz="14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>
              <a:spcAft>
                <a:spcPts val="0"/>
              </a:spcAft>
            </a:pPr>
            <a:r>
              <a:rPr lang="ru-RU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– Российский технологический университет»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 eaLnBrk="0" fontAlgn="ctr" hangingPunct="0">
              <a:spcAft>
                <a:spcPts val="0"/>
              </a:spcAft>
            </a:pPr>
            <a:r>
              <a:rPr lang="ru-RU" sz="14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РТУ МИРЭА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>
              <a:lnSpc>
                <a:spcPct val="150000"/>
              </a:lnSpc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Институт информационных технологий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Кафедра </a:t>
            </a:r>
            <a:r>
              <a:rPr lang="ru-RU" sz="1400" b="0" strike="noStrike" spc="-1" dirty="0">
                <a:solidFill>
                  <a:srgbClr val="000000"/>
                </a:solidFill>
                <a:latin typeface="Times New Roman"/>
              </a:rPr>
              <a:t>корпоративных информационных систем</a:t>
            </a:r>
            <a:endParaRPr lang="ru-RU" sz="1400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FEABEA5-C03D-403A-8C0B-A5BEB14F4B31}"/>
              </a:ext>
            </a:extLst>
          </p:cNvPr>
          <p:cNvCxnSpPr/>
          <p:nvPr/>
        </p:nvCxnSpPr>
        <p:spPr>
          <a:xfrm>
            <a:off x="2928000" y="2974285"/>
            <a:ext cx="633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F08E5D6-DE9B-4CCD-9AAE-7E22242A7F34}"/>
              </a:ext>
            </a:extLst>
          </p:cNvPr>
          <p:cNvCxnSpPr/>
          <p:nvPr/>
        </p:nvCxnSpPr>
        <p:spPr>
          <a:xfrm>
            <a:off x="2928000" y="2440885"/>
            <a:ext cx="633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D8B79AF-D833-4E25-B745-8B7928E444C4}"/>
              </a:ext>
            </a:extLst>
          </p:cNvPr>
          <p:cNvSpPr/>
          <p:nvPr/>
        </p:nvSpPr>
        <p:spPr>
          <a:xfrm>
            <a:off x="4516433" y="3244334"/>
            <a:ext cx="3159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0165" algn="ctr">
              <a:spcAft>
                <a:spcPts val="0"/>
              </a:spcAf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ПРАКТИЧЕСКАЯ РАБОТА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AA717D8-CFAA-4AAC-92B3-2589E63165C7}"/>
              </a:ext>
            </a:extLst>
          </p:cNvPr>
          <p:cNvSpPr/>
          <p:nvPr/>
        </p:nvSpPr>
        <p:spPr>
          <a:xfrm>
            <a:off x="609599" y="3687380"/>
            <a:ext cx="10972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 тему: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«Корпоративная и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нформационная система файлового хранения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»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75A28A-63CA-45C1-B83B-EE5C7D3D8DF0}"/>
              </a:ext>
            </a:extLst>
          </p:cNvPr>
          <p:cNvSpPr txBox="1"/>
          <p:nvPr/>
        </p:nvSpPr>
        <p:spPr>
          <a:xfrm>
            <a:off x="1968433" y="4207738"/>
            <a:ext cx="825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 группы ИКБО-03-25 Фомичев Роман Алексеевич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5C436042-EF8C-4FD9-8B52-6F6FF1D430A8}"/>
              </a:ext>
            </a:extLst>
          </p:cNvPr>
          <p:cNvSpPr/>
          <p:nvPr/>
        </p:nvSpPr>
        <p:spPr>
          <a:xfrm>
            <a:off x="4576680" y="6301800"/>
            <a:ext cx="25171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Times New Roman"/>
              </a:rPr>
              <a:t>Москва, 2025</a:t>
            </a:r>
            <a:endParaRPr lang="en-US" sz="1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7764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8EB7117-44A9-4B5B-96A7-F83C8F50A2C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75DB216-7780-4318-BF04-361E73DEC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88" y="312873"/>
            <a:ext cx="10515600" cy="671195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 новизна работы </a:t>
            </a:r>
            <a:endParaRPr lang="ru-RU" sz="2800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137AE3FB-D8D1-49A6-9FFE-5A9BAA7D03F4}"/>
              </a:ext>
            </a:extLst>
          </p:cNvPr>
          <p:cNvSpPr txBox="1">
            <a:spLocks/>
          </p:cNvSpPr>
          <p:nvPr/>
        </p:nvSpPr>
        <p:spPr>
          <a:xfrm>
            <a:off x="724988" y="1349026"/>
            <a:ext cx="11112551" cy="49595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kern="0" dirty="0">
                <a:latin typeface="Times New Roman" panose="02020603050405020304" pitchFamily="18" charset="0"/>
                <a:ea typeface="Calibri" panose="020F0502020204030204" pitchFamily="34" charset="0"/>
              </a:rPr>
              <a:t>тремительный рост объема корпоративных данных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Необходимость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безопасности и контроля доступа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Цифровизация документооборота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Новизна: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Новизна системы заключается в возможности развертывания в частной инфраструктуре с контролем доступа на основе ролей и групп, что позволит обеспечить как высокую безопасность, так и удобство интеграции в корпоративную среду без зависимости от внешних облачных провайдеров.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5E6F970-0103-15E3-9E90-D6D186E92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818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BEB708F-3009-4A8C-9FDF-34FBFC2D2A0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7CA4A80-D598-4B05-9199-3B80FB2A1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95" y="349083"/>
            <a:ext cx="8491774" cy="584444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работы 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DB541FA0-A602-4567-B87D-A72DB0BE8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95" y="1145812"/>
            <a:ext cx="11112551" cy="5502442"/>
          </a:xfrm>
        </p:spPr>
        <p:txBody>
          <a:bodyPr anchor="ctr"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роектирование и разработка корпоративной информационной системы файлового хранения, обеспечивающей централизованное хранение данных с возможностью гибкого управления доступом внутри компании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marL="457200" indent="-457200" algn="just">
              <a:lnSpc>
                <a:spcPct val="100000"/>
              </a:lnSpc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области, в том числе конкурентных решений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0000"/>
              </a:lnSpc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Сформулировать основные требования к информационной системе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just">
              <a:lnSpc>
                <a:spcPct val="100000"/>
              </a:lnSpc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Формализовать задачи на проектирование и разработку системы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just">
              <a:lnSpc>
                <a:spcPct val="100000"/>
              </a:lnSpc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систему (архитектуру, функциональную схему, адаптированную модель жизненного цикла, интерфейс и базу данных)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just">
              <a:lnSpc>
                <a:spcPct val="100000"/>
              </a:lnSpc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и провести тестирование системы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just">
              <a:lnSpc>
                <a:spcPct val="100000"/>
              </a:lnSpc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Произвести расчет вычислительной и ёмкостной сложности модуля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just">
              <a:lnSpc>
                <a:spcPct val="100000"/>
              </a:lnSpc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Произвести тестирование модуля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just">
              <a:lnSpc>
                <a:spcPct val="100000"/>
              </a:lnSpc>
              <a:buAutoNum type="arabicPeriod"/>
            </a:pP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Р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ассчитать экономическую эффективность и стоимость проведения работ;</a:t>
            </a:r>
          </a:p>
          <a:p>
            <a:pPr marL="457200" indent="-457200" algn="just">
              <a:lnSpc>
                <a:spcPct val="100000"/>
              </a:lnSpc>
              <a:buAutoNum type="arabicPeriod"/>
            </a:pP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О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формить пояснительную записку согласно ГОСТ 7.32-2017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B7143AE-4EC9-313B-3FF1-7F4C7CAA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1457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42E51A-11F7-481B-B184-F116A799D8D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FC483F5-38B3-4845-B2B0-E0340592C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88" y="312873"/>
            <a:ext cx="10515600" cy="671195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существующих решений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13820CDB-B320-44E9-8DAF-93407AB81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931136"/>
              </p:ext>
            </p:extLst>
          </p:nvPr>
        </p:nvGraphicFramePr>
        <p:xfrm>
          <a:off x="724986" y="2184860"/>
          <a:ext cx="10656375" cy="2022789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3122705">
                  <a:extLst>
                    <a:ext uri="{9D8B030D-6E8A-4147-A177-3AD203B41FA5}">
                      <a16:colId xmlns:a16="http://schemas.microsoft.com/office/drawing/2014/main" val="2565423029"/>
                    </a:ext>
                  </a:extLst>
                </a:gridCol>
                <a:gridCol w="1132707">
                  <a:extLst>
                    <a:ext uri="{9D8B030D-6E8A-4147-A177-3AD203B41FA5}">
                      <a16:colId xmlns:a16="http://schemas.microsoft.com/office/drawing/2014/main" val="2465013859"/>
                    </a:ext>
                  </a:extLst>
                </a:gridCol>
                <a:gridCol w="1263382">
                  <a:extLst>
                    <a:ext uri="{9D8B030D-6E8A-4147-A177-3AD203B41FA5}">
                      <a16:colId xmlns:a16="http://schemas.microsoft.com/office/drawing/2014/main" val="1657139982"/>
                    </a:ext>
                  </a:extLst>
                </a:gridCol>
                <a:gridCol w="1200465">
                  <a:extLst>
                    <a:ext uri="{9D8B030D-6E8A-4147-A177-3AD203B41FA5}">
                      <a16:colId xmlns:a16="http://schemas.microsoft.com/office/drawing/2014/main" val="1648180511"/>
                    </a:ext>
                  </a:extLst>
                </a:gridCol>
                <a:gridCol w="1332718">
                  <a:extLst>
                    <a:ext uri="{9D8B030D-6E8A-4147-A177-3AD203B41FA5}">
                      <a16:colId xmlns:a16="http://schemas.microsoft.com/office/drawing/2014/main" val="2300330664"/>
                    </a:ext>
                  </a:extLst>
                </a:gridCol>
                <a:gridCol w="1302199">
                  <a:extLst>
                    <a:ext uri="{9D8B030D-6E8A-4147-A177-3AD203B41FA5}">
                      <a16:colId xmlns:a16="http://schemas.microsoft.com/office/drawing/2014/main" val="2400782060"/>
                    </a:ext>
                  </a:extLst>
                </a:gridCol>
                <a:gridCol w="1302199">
                  <a:extLst>
                    <a:ext uri="{9D8B030D-6E8A-4147-A177-3AD203B41FA5}">
                      <a16:colId xmlns:a16="http://schemas.microsoft.com/office/drawing/2014/main" val="1216975430"/>
                    </a:ext>
                  </a:extLst>
                </a:gridCol>
              </a:tblGrid>
              <a:tr h="283511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Google Drive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OneDrive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DropBox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NextCloud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OwnCloud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Целевое решение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148838"/>
                  </a:ext>
                </a:extLst>
              </a:tr>
              <a:tr h="283511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Разграничение доступа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479355"/>
                  </a:ext>
                </a:extLst>
              </a:tr>
              <a:tr h="283511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Возможность развертывания в частной инфраструктуре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283894"/>
                  </a:ext>
                </a:extLst>
              </a:tr>
              <a:tr h="376869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Контроль версий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783441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0491EF1-014A-836C-D45D-C53905B7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925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Заголовок 14">
            <a:extLst>
              <a:ext uri="{FF2B5EF4-FFF2-40B4-BE49-F238E27FC236}">
                <a16:creationId xmlns:a16="http://schemas.microsoft.com/office/drawing/2014/main" id="{73912F77-D1FF-CBBF-B28B-8C5C8A62E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2998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Требования к веб-приложению</a:t>
            </a:r>
            <a:endParaRPr lang="ru-RU" sz="2400" dirty="0"/>
          </a:p>
        </p:txBody>
      </p:sp>
      <p:sp>
        <p:nvSpPr>
          <p:cNvPr id="16" name="Объект 15">
            <a:extLst>
              <a:ext uri="{FF2B5EF4-FFF2-40B4-BE49-F238E27FC236}">
                <a16:creationId xmlns:a16="http://schemas.microsoft.com/office/drawing/2014/main" id="{F03C7628-ABBE-9386-4697-73A823EE0E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45812"/>
            <a:ext cx="5181600" cy="5031151"/>
          </a:xfrm>
        </p:spPr>
        <p:txBody>
          <a:bodyPr>
            <a:normAutofit/>
          </a:bodyPr>
          <a:lstStyle/>
          <a:p>
            <a:pPr marL="342900" indent="-342900">
              <a:buAutoNum type="arabicParenR"/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Функциональные требования:</a:t>
            </a:r>
          </a:p>
          <a:p>
            <a:pPr marL="342900" lvl="0" indent="-342900" algn="just">
              <a:lnSpc>
                <a:spcPct val="100000"/>
              </a:lnSpc>
              <a:spcBef>
                <a:spcPts val="600"/>
              </a:spcBef>
              <a:buFont typeface="Times New Roman" panose="02020603050405020304" pitchFamily="18" charset="0"/>
              <a:buChar char="‒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агрузка файлов и сохранение метаданных;</a:t>
            </a:r>
          </a:p>
          <a:p>
            <a:pPr marL="342900" lvl="0" indent="-342900" algn="just">
              <a:lnSpc>
                <a:spcPct val="100000"/>
              </a:lnSpc>
              <a:spcBef>
                <a:spcPts val="600"/>
              </a:spcBef>
              <a:buFont typeface="Times New Roman" panose="02020603050405020304" pitchFamily="18" charset="0"/>
              <a:buChar char="‒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управление доступом к файлам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600"/>
              </a:spcBef>
              <a:buFont typeface="Times New Roman" panose="02020603050405020304" pitchFamily="18" charset="0"/>
              <a:buChar char="‒"/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контроль версий файлов;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600"/>
              </a:spcBef>
              <a:buFont typeface="Times New Roman" panose="02020603050405020304" pitchFamily="18" charset="0"/>
              <a:buChar char="‒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росмотр, редактирование файлов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" name="Объект 16">
            <a:extLst>
              <a:ext uri="{FF2B5EF4-FFF2-40B4-BE49-F238E27FC236}">
                <a16:creationId xmlns:a16="http://schemas.microsoft.com/office/drawing/2014/main" id="{93E87D99-7617-BECC-C04A-6E9431F6D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51721"/>
            <a:ext cx="5181600" cy="51358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2) 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Нефункциональные требования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</a:t>
            </a:r>
            <a:endParaRPr lang="ru-RU" dirty="0">
              <a:effectLst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600"/>
              </a:spcBef>
              <a:buFont typeface="Times New Roman" panose="02020603050405020304" pitchFamily="18" charset="0"/>
              <a:buChar char="‒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прощение пользовательского интерфейса;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600"/>
              </a:spcBef>
              <a:buFont typeface="Times New Roman" panose="02020603050405020304" pitchFamily="18" charset="0"/>
              <a:buChar char="‒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инимизация количества действий при работе с файлами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00000"/>
              </a:lnSpc>
              <a:spcBef>
                <a:spcPts val="600"/>
              </a:spcBef>
              <a:buFont typeface="Times New Roman" panose="02020603050405020304" pitchFamily="18" charset="0"/>
              <a:buChar char="‒"/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у</a:t>
            </a:r>
            <a:r>
              <a:rPr lang="ru-RU" sz="2000">
                <a:latin typeface="Times New Roman" panose="02020603050405020304" pitchFamily="18" charset="0"/>
                <a:ea typeface="Calibri" panose="020F0502020204030204" pitchFamily="34" charset="0"/>
              </a:rPr>
              <a:t>скорение 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времени </a:t>
            </a:r>
            <a:r>
              <a:rPr lang="ru-RU" sz="2000">
                <a:latin typeface="Times New Roman" panose="02020603050405020304" pitchFamily="18" charset="0"/>
                <a:ea typeface="Calibri" panose="020F0502020204030204" pitchFamily="34" charset="0"/>
              </a:rPr>
              <a:t>загрузки страницы.</a:t>
            </a:r>
            <a:endParaRPr lang="ru-RU" sz="3200" dirty="0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E0108E5-F9BA-45D3-85ED-51F3CB721625}" type="slidenum">
              <a:rPr lang="ru-RU" sz="2400">
                <a:solidFill>
                  <a:schemeClr val="tx1"/>
                </a:solidFill>
                <a:latin typeface="Times New Roman"/>
                <a:cs typeface="Times New Roman"/>
              </a:rPr>
              <a:t>5</a:t>
            </a:fld>
            <a:endParaRPr lang="ru-RU" sz="20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3"/>
          <a:stretch/>
        </p:blipFill>
        <p:spPr bwMode="auto"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13" name="Объект 6"/>
          <p:cNvSpPr txBox="1"/>
          <p:nvPr/>
        </p:nvSpPr>
        <p:spPr bwMode="auto">
          <a:xfrm>
            <a:off x="4452484" y="5630083"/>
            <a:ext cx="3487784" cy="572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endParaRPr lang="ru-RU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CC53F6-A2A8-4B7D-8254-A64B12CE738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8CB8063-AFC5-4C70-9917-FA0394F8B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88" y="312873"/>
            <a:ext cx="10333900" cy="671195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информационной системы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7218CF-A801-D77A-351B-74B4FAC75F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4665" y="2882782"/>
            <a:ext cx="9473213" cy="1092436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F205562-A558-102F-76C9-B13AFD93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493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7BE7BB-F100-407F-AD82-15A891A3A9B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387BC625-A6CA-4EDF-B0CE-AC934E41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88" y="312873"/>
            <a:ext cx="10333900" cy="671195"/>
          </a:xfrm>
        </p:spPr>
        <p:txBody>
          <a:bodyPr>
            <a:normAutofit/>
          </a:bodyPr>
          <a:lstStyle/>
          <a:p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Функциональная модель системы 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DB0D53-4365-CF12-A6AD-B29A579509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4256" y="1160144"/>
            <a:ext cx="7895362" cy="5251419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B2AD29-964D-619D-2277-B4677489E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5356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5EFD9-67C5-8991-8AF5-F2B3AAC15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240A4E9-F35E-A231-3464-04116011638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954A8BA-08B8-0A91-938B-9DC8956AA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88" y="312873"/>
            <a:ext cx="10333900" cy="671195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Функциональная модель системы 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EA90DCE-3E05-3EFD-5CF3-B7F1DF5B4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3185" y="1160143"/>
            <a:ext cx="7937682" cy="5279567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B6A31FB-B95D-B459-6ED1-C66E0F001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7448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486C7-B189-2778-95BA-3CA4A6EF3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10E0D7-F756-C82A-7674-052BF0A3A3F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20A10E7A-A4AB-3F17-E3F3-6A7830AA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88" y="312873"/>
            <a:ext cx="10333900" cy="671195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Функциональная модель системы 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F07CC43-B70B-B5B1-7BBD-52A5FD2CE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3185" y="1160143"/>
            <a:ext cx="7937682" cy="5279566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49A522-AD15-1D37-C499-CAAAACB0B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058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4ED50-2493-5607-B6FE-5E5C79EB5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82E76B-0AF7-91E0-CF26-3E79088EA13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31D53CC5-06FD-E9C7-9558-36D53E518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88" y="312873"/>
            <a:ext cx="10333900" cy="671195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Функциональная модель системы 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36CDDD5-54DA-5121-3769-C586F7746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3185" y="1160143"/>
            <a:ext cx="7937682" cy="5279566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2F76FC4-68C8-840D-023D-B414C61CB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624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E97BF-3FDA-617B-2B24-4FCCD6958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5D5BCA3-5358-EF8C-36CA-C6620611082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C1C1C57-8BBA-9A02-82CE-021761E5D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88" y="312873"/>
            <a:ext cx="10333900" cy="671195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Функциональная модель системы 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60D57CC-A334-9404-780E-E75F1CF61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3185" y="1160143"/>
            <a:ext cx="7937682" cy="5279566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C93BA3D-587B-014A-6ACD-704194942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1588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04191CD-B838-4AF3-9050-5E6A94713A3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7A08FB9-6584-4768-8671-ACF228E04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88" y="312873"/>
            <a:ext cx="10333900" cy="671195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инструментов</a:t>
            </a:r>
            <a:endParaRPr lang="ru-RU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The Go Programming Language">
            <a:extLst>
              <a:ext uri="{FF2B5EF4-FFF2-40B4-BE49-F238E27FC236}">
                <a16:creationId xmlns:a16="http://schemas.microsoft.com/office/drawing/2014/main" id="{86F58D88-1B20-4091-7551-AEDB6234C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756" y="2181728"/>
            <a:ext cx="2882567" cy="2548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361D820-A56E-36EB-0225-31DE9DEFA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215" y="2548789"/>
            <a:ext cx="2040965" cy="204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04FA90F-612F-A1D7-8C6C-D53298755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92" y="4794724"/>
            <a:ext cx="4889416" cy="1235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 descr="PostgreSQL logo and symbol, meaning, history, PNG">
            <a:extLst>
              <a:ext uri="{FF2B5EF4-FFF2-40B4-BE49-F238E27FC236}">
                <a16:creationId xmlns:a16="http://schemas.microsoft.com/office/drawing/2014/main" id="{51F78BA8-FAD4-047C-851D-CF5DAA5A76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70" b="36828"/>
          <a:stretch/>
        </p:blipFill>
        <p:spPr bwMode="auto">
          <a:xfrm>
            <a:off x="1415593" y="1249242"/>
            <a:ext cx="6384587" cy="109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3DBC985B-2046-DABE-12DE-DBD2D9888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961" y="1054130"/>
            <a:ext cx="2255196" cy="225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444DF77-7B87-A3D4-0BDD-718C0E425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953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379CF56-AE8E-45D0-933D-12F7AF91E03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7A54F11-00AB-450E-90C2-FCFFB2546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88" y="312873"/>
            <a:ext cx="10333900" cy="671195"/>
          </a:xfrm>
        </p:spPr>
        <p:txBody>
          <a:bodyPr>
            <a:normAutofit/>
          </a:bodyPr>
          <a:lstStyle/>
          <a:p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Схема базы данных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AB1DD3-C20C-1196-9343-C97CAF181C20}"/>
              </a:ext>
            </a:extLst>
          </p:cNvPr>
          <p:cNvSpPr txBox="1"/>
          <p:nvPr/>
        </p:nvSpPr>
        <p:spPr>
          <a:xfrm>
            <a:off x="557488" y="1476414"/>
            <a:ext cx="3369231" cy="3905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86360" lvl="0" algn="just">
              <a:lnSpc>
                <a:spcPct val="150000"/>
              </a:lnSpc>
              <a:spcAft>
                <a:spcPts val="6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Основные объекты системы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86360" lvl="0" indent="-342900" algn="just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Пользователь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86360" lvl="0" indent="-342900" algn="just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Роль</a:t>
            </a:r>
          </a:p>
          <a:p>
            <a:pPr marL="342900" marR="86360" lvl="0" indent="-342900" algn="just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Право </a:t>
            </a:r>
          </a:p>
          <a:p>
            <a:pPr marL="342900" marR="86360" lvl="0" indent="-342900" algn="just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Группа </a:t>
            </a:r>
          </a:p>
          <a:p>
            <a:pPr marL="342900" marR="86360" lvl="0" indent="-342900" algn="just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Файл 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86360" lvl="0" indent="-342900" algn="just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Уровень доступа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Версия файла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4D0C7FA-6740-A633-5CA1-157CD2013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311" y="1177242"/>
            <a:ext cx="7291595" cy="5166989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3DBA04C-96A3-7F60-B542-34D6935A8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972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010749-F7EF-4C6C-88B3-4244EAA1D3A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366E4FE-EA1D-490A-A86A-3DA487A5D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88" y="312873"/>
            <a:ext cx="10333900" cy="671195"/>
          </a:xfrm>
        </p:spPr>
        <p:txBody>
          <a:bodyPr>
            <a:normAutofit/>
          </a:bodyPr>
          <a:lstStyle/>
          <a:p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Архитектура серверной част</a:t>
            </a:r>
            <a:r>
              <a:rPr lang="ru-RU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и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5D3C1EE-5DCA-18F3-CE1E-BC5DB74B25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0526" y="949149"/>
            <a:ext cx="4750948" cy="559597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A4A84B-63EB-0EB8-B6E8-3FFB0045E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722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471409"/>
            <a:ext cx="10515600" cy="674403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269DF91-708A-FE0D-06D0-6531683A02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571" t="4784" r="21060" b="35998"/>
          <a:stretch/>
        </p:blipFill>
        <p:spPr>
          <a:xfrm>
            <a:off x="2749685" y="1318280"/>
            <a:ext cx="6692630" cy="5068311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2FE6BB7-1993-DBD3-97C2-EC673BC88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657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D5BDE-D531-426F-3844-B325E1221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30E882-60B8-877B-6FCF-596F18E9A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1409"/>
            <a:ext cx="10515600" cy="674403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C64AD7-34CF-1795-ADB2-81325613A39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40833C-5C89-E7A8-8EE6-D86EAE2C3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795" y="1145812"/>
            <a:ext cx="8216410" cy="5493600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57ABA3D-8788-2548-9D69-9DDDD9FED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4726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F7B33-8518-1BEC-08A9-A8A87448E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966F2-2C74-C1E6-BECB-C007BA07C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1409"/>
            <a:ext cx="10515600" cy="674403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2D0729-40B6-2082-7A5C-47A8B3295AF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2D3A0B9-9487-8A2B-5070-DEFF226B6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173" y="1145812"/>
            <a:ext cx="8395654" cy="5493600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644F23A-252E-0723-E3FE-517A98313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818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0D51D-D962-5CC9-ACFA-E6A57918A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A17535-4E19-8056-6718-D2A8808D7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1409"/>
            <a:ext cx="10515600" cy="674403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C217DF-532C-6314-B3E4-C180338F1D4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1A8980-B85C-D279-2854-E18CAED0B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243" y="1155540"/>
            <a:ext cx="8411513" cy="54936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1C077E-6307-2E06-1F26-89E085CD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471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84A562-D567-4AEA-8BF2-77BBFAFB775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5D091867-ADEF-4F79-B898-5EB716530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88" y="474617"/>
            <a:ext cx="10333900" cy="671195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системы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8E6CAE9-D174-AC0D-5D63-BE67E805E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387" y="1227366"/>
            <a:ext cx="8071225" cy="531776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F79C31D-4DC4-F660-6EB0-6CE92AFBA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6209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7B8FF-9BDD-30FB-9103-8F842AD86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90B5E7-87CB-C40B-E988-3BEA7A38066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E27B692-4886-8F56-5310-745311EA4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88" y="437745"/>
            <a:ext cx="10333900" cy="671195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системы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6B19E71-73A9-6072-3AC8-148A177E7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961" y="1108940"/>
            <a:ext cx="8435955" cy="54936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AFC5F73-2446-2F4F-1FE8-DE8EDF303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712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9081D-7EA3-0636-CAC7-E47704107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EDD47D-AD9D-6EEA-03A3-4CDA653AF6B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D297518-1774-ACA4-05B2-EAC627785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88" y="437745"/>
            <a:ext cx="10333900" cy="671195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системы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2E5BE08-A945-C10F-F814-B1E433118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575" y="1108940"/>
            <a:ext cx="8426726" cy="54936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BB1D71-09EE-AC74-440A-8733811D1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7425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EF784-BF62-F82F-79C8-EA49CE360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5C515A-94DE-9D07-E2B7-0C8296C58BF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D53EDEB-E473-D591-1B02-6666AD61B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88" y="437745"/>
            <a:ext cx="10333900" cy="671195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системы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46153C-63EB-C0DD-04CE-9BC917110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775" y="1155540"/>
            <a:ext cx="8408326" cy="54936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6690657-2A43-7A34-B05A-33527108B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1476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84A562-D567-4AEA-8BF2-77BBFAFB775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5D091867-ADEF-4F79-B898-5EB716530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879" y="303636"/>
            <a:ext cx="10333900" cy="671195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Расчёт полной себестоимости проекта</a:t>
            </a:r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AA02F88D-67FE-4158-9BCE-27930BE23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137209"/>
              </p:ext>
            </p:extLst>
          </p:nvPr>
        </p:nvGraphicFramePr>
        <p:xfrm>
          <a:off x="798879" y="1141669"/>
          <a:ext cx="9379596" cy="4510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539">
                  <a:extLst>
                    <a:ext uri="{9D8B030D-6E8A-4147-A177-3AD203B41FA5}">
                      <a16:colId xmlns:a16="http://schemas.microsoft.com/office/drawing/2014/main" val="850634475"/>
                    </a:ext>
                  </a:extLst>
                </a:gridCol>
                <a:gridCol w="3909259">
                  <a:extLst>
                    <a:ext uri="{9D8B030D-6E8A-4147-A177-3AD203B41FA5}">
                      <a16:colId xmlns:a16="http://schemas.microsoft.com/office/drawing/2014/main" val="1187141304"/>
                    </a:ext>
                  </a:extLst>
                </a:gridCol>
                <a:gridCol w="2344899">
                  <a:extLst>
                    <a:ext uri="{9D8B030D-6E8A-4147-A177-3AD203B41FA5}">
                      <a16:colId xmlns:a16="http://schemas.microsoft.com/office/drawing/2014/main" val="3117359161"/>
                    </a:ext>
                  </a:extLst>
                </a:gridCol>
                <a:gridCol w="2344899">
                  <a:extLst>
                    <a:ext uri="{9D8B030D-6E8A-4147-A177-3AD203B41FA5}">
                      <a16:colId xmlns:a16="http://schemas.microsoft.com/office/drawing/2014/main" val="1086697572"/>
                    </a:ext>
                  </a:extLst>
                </a:gridCol>
              </a:tblGrid>
              <a:tr h="56387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 пп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Номенклатура статей расходов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Затраты (руб.)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Доля затрат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%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226705"/>
                  </a:ext>
                </a:extLst>
              </a:tr>
              <a:tr h="5638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Сырье и материалы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9735,00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0,92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201759"/>
                  </a:ext>
                </a:extLst>
              </a:tr>
              <a:tr h="5638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Основная заработная плата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382 849,00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,1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863130"/>
                  </a:ext>
                </a:extLst>
              </a:tr>
              <a:tr h="5638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Дополнительная заработная плата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91 883,76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583532"/>
                  </a:ext>
                </a:extLst>
              </a:tr>
              <a:tr h="5638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Страховые взносы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143 369,29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32010"/>
                  </a:ext>
                </a:extLst>
              </a:tr>
              <a:tr h="5638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Амортизация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7500,00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0,71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789599"/>
                  </a:ext>
                </a:extLst>
              </a:tr>
              <a:tr h="5638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Прочие расходы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424 962,39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269081"/>
                  </a:ext>
                </a:extLst>
              </a:tr>
              <a:tr h="563873">
                <a:tc gridSpan="2">
                  <a:txBody>
                    <a:bodyPr/>
                    <a:lstStyle/>
                    <a:p>
                      <a:pPr algn="r"/>
                      <a:r>
                        <a:rPr lang="ru-RU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Итого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1 060 299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</a:t>
                      </a:r>
                      <a:endParaRPr lang="ru-RU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162006"/>
                  </a:ext>
                </a:extLst>
              </a:tr>
            </a:tbl>
          </a:graphicData>
        </a:graphic>
      </p:graphicFrame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67DC32-391A-DA80-FCE8-20C358232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43420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84A562-D567-4AEA-8BF2-77BBFAFB775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5D091867-ADEF-4F79-B898-5EB716530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879" y="303636"/>
            <a:ext cx="10333900" cy="671195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затрат по работе полной себестоимости проекта</a:t>
            </a:r>
          </a:p>
        </p:txBody>
      </p:sp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A6408134-F1BD-573F-8F79-3A9BAEDF8B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7232489"/>
              </p:ext>
            </p:extLst>
          </p:nvPr>
        </p:nvGraphicFramePr>
        <p:xfrm>
          <a:off x="2594042" y="1141670"/>
          <a:ext cx="7003915" cy="5096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1DD0A8-EE73-7677-69E9-68ADABD39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68239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84A562-D567-4AEA-8BF2-77BBFAFB775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5D091867-ADEF-4F79-B898-5EB716530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879" y="303636"/>
            <a:ext cx="10333900" cy="671195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93BC44-A910-47BC-B10A-1963AAF89E82}"/>
              </a:ext>
            </a:extLst>
          </p:cNvPr>
          <p:cNvSpPr txBox="1"/>
          <p:nvPr/>
        </p:nvSpPr>
        <p:spPr bwMode="auto">
          <a:xfrm>
            <a:off x="838198" y="1108363"/>
            <a:ext cx="9920593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2400" dirty="0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В ходе выполнения работы была разработана корпоративная информационная система файлового хранения. Поставленные цели достигнуты. </a:t>
            </a:r>
          </a:p>
          <a:p>
            <a:pPr>
              <a:lnSpc>
                <a:spcPct val="150000"/>
              </a:lnSpc>
              <a:defRPr/>
            </a:pPr>
            <a:r>
              <a:rPr lang="ru-RU" sz="2400" dirty="0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Разработанная система обеспечивает централизованное и безопасное хранение файлов, поддержку версионирования и гибкое управление доступом. Это позволяет эффективно организовать совместную работу сотрудников и повысить информационную независимость организации.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314C67D-CF28-A1A6-E22D-E06D697F9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2910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99EA952-B65A-415C-9952-828282E9496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9884DFA-417B-4604-955C-C4AB9A36D8FD}"/>
              </a:ext>
            </a:extLst>
          </p:cNvPr>
          <p:cNvSpPr txBox="1">
            <a:spLocks/>
          </p:cNvSpPr>
          <p:nvPr/>
        </p:nvSpPr>
        <p:spPr>
          <a:xfrm>
            <a:off x="798879" y="303636"/>
            <a:ext cx="10333900" cy="6711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5F558C-B3E9-45AE-A7E5-9FA0E14D2D06}"/>
              </a:ext>
            </a:extLst>
          </p:cNvPr>
          <p:cNvSpPr txBox="1"/>
          <p:nvPr/>
        </p:nvSpPr>
        <p:spPr>
          <a:xfrm>
            <a:off x="798878" y="1298359"/>
            <a:ext cx="10260009" cy="246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встроенного редактора файлов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поддержки совместной работы в режиме реального времени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Мобильное приложение для доступа к хранилищу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поисковых возможностей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FB4DF4C-5C67-14F4-1EC0-6D2964887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92164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D4227-D291-7789-B1D0-27180B40A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EC00A0-D103-CA45-6F9C-CC26FC8B23D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D4DEF45-C984-234A-1217-C77C4AA9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27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6099B0-0841-A8DD-7A9E-788E01D91818}"/>
              </a:ext>
            </a:extLst>
          </p:cNvPr>
          <p:cNvSpPr txBox="1"/>
          <p:nvPr/>
        </p:nvSpPr>
        <p:spPr>
          <a:xfrm>
            <a:off x="2313156" y="2644170"/>
            <a:ext cx="75656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Спасибо за внимание.</a:t>
            </a:r>
            <a:endParaRPr lang="ru-RU" sz="4800" b="1" dirty="0">
              <a:latin typeface="Times New Roman" panose="02020603050405020304" pitchFamily="18" charset="0"/>
              <a:ea typeface="Verdana"/>
              <a:cs typeface="Times New Roman" panose="02020603050405020304" pitchFamily="18" charset="0"/>
            </a:endParaRPr>
          </a:p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80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Доклад окончен.</a:t>
            </a:r>
          </a:p>
        </p:txBody>
      </p:sp>
    </p:spTree>
    <p:extLst>
      <p:ext uri="{BB962C8B-B14F-4D97-AF65-F5344CB8AC3E}">
        <p14:creationId xmlns:p14="http://schemas.microsoft.com/office/powerpoint/2010/main" val="9650233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1712</TotalTime>
  <Words>551</Words>
  <Application>Microsoft Office PowerPoint</Application>
  <PresentationFormat>Широкоэкранный</PresentationFormat>
  <Paragraphs>165</Paragraphs>
  <Slides>27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Актуальность и новизна работы </vt:lpstr>
      <vt:lpstr>Цель и задачи работы </vt:lpstr>
      <vt:lpstr>Анализ существующих решений</vt:lpstr>
      <vt:lpstr>Требования к веб-приложению</vt:lpstr>
      <vt:lpstr>Архитектура информационной системы</vt:lpstr>
      <vt:lpstr>Функциональная модель системы </vt:lpstr>
      <vt:lpstr>Функциональная модель системы </vt:lpstr>
      <vt:lpstr>Функциональная модель системы </vt:lpstr>
      <vt:lpstr>Функциональная модель системы </vt:lpstr>
      <vt:lpstr>Функциональная модель системы </vt:lpstr>
      <vt:lpstr>Выбор инструментов</vt:lpstr>
      <vt:lpstr>Схема базы данных</vt:lpstr>
      <vt:lpstr>Архитектура серверной части</vt:lpstr>
      <vt:lpstr>Пользовательский интерфейс</vt:lpstr>
      <vt:lpstr>Пользовательский интерфейс</vt:lpstr>
      <vt:lpstr>Пользовательский интерфейс</vt:lpstr>
      <vt:lpstr>Пользовательский интерфейс</vt:lpstr>
      <vt:lpstr>Тестирование системы</vt:lpstr>
      <vt:lpstr>Тестирование системы</vt:lpstr>
      <vt:lpstr>Тестирование системы</vt:lpstr>
      <vt:lpstr>Тестирование системы</vt:lpstr>
      <vt:lpstr>Расчёт полной себестоимости проекта</vt:lpstr>
      <vt:lpstr>Структура затрат по работе полной себестоимости проекта</vt:lpstr>
      <vt:lpstr>Выводы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3BE3DA</dc:creator>
  <cp:lastModifiedBy>3BE3DA</cp:lastModifiedBy>
  <cp:revision>91</cp:revision>
  <dcterms:created xsi:type="dcterms:W3CDTF">2025-05-19T05:14:50Z</dcterms:created>
  <dcterms:modified xsi:type="dcterms:W3CDTF">2026-01-25T18:43:49Z</dcterms:modified>
</cp:coreProperties>
</file>