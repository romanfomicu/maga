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4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Inter" panose="020B0604020202020204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392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7941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848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758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1972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5321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1779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2281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7780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2784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9148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7565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773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014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359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52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4579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645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57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61393-24B0-493D-A529-7A8D99B6CE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903BA-17C2-45ED-9832-2E342B6CE4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66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790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Wildberries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28010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Russia's E-Commerce Giant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54246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small fashion boutique to one of Europe's largest online marketplaces — the story of a retail revolution.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145" y="997828"/>
            <a:ext cx="7079933" cy="70799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09515" y="1523881"/>
            <a:ext cx="4726662" cy="1098709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86655" y="1523881"/>
            <a:ext cx="125686" cy="1098709"/>
          </a:xfrm>
          <a:prstGeom prst="roundRect">
            <a:avLst>
              <a:gd name="adj" fmla="val 70000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9053355" y="1699141"/>
            <a:ext cx="26184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Founded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053355" y="2039660"/>
            <a:ext cx="4150599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in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2004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Tatyana Bakalchuk in Moscow, Russia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809515" y="2724983"/>
            <a:ext cx="4726662" cy="1098709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86655" y="2724983"/>
            <a:ext cx="125686" cy="1098709"/>
          </a:xfrm>
          <a:prstGeom prst="roundRect">
            <a:avLst>
              <a:gd name="adj" fmla="val 70000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9053355" y="2900243"/>
            <a:ext cx="26184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Headquarters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053355" y="3240762"/>
            <a:ext cx="4150599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in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Moscow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operations across Russia, CIS, and Europe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809515" y="3926086"/>
            <a:ext cx="4726662" cy="1098709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86655" y="3926086"/>
            <a:ext cx="125686" cy="1098709"/>
          </a:xfrm>
          <a:prstGeom prst="roundRect">
            <a:avLst>
              <a:gd name="adj" fmla="val 70000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9053355" y="4101346"/>
            <a:ext cx="26184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Slogan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053355" y="4441865"/>
            <a:ext cx="4150599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"Wildberries — everything you need"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one-stop marketplace for all categories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809515" y="5127188"/>
            <a:ext cx="4726662" cy="1098709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86655" y="5127188"/>
            <a:ext cx="125686" cy="1098709"/>
          </a:xfrm>
          <a:prstGeom prst="roundRect">
            <a:avLst>
              <a:gd name="adj" fmla="val 70000"/>
            </a:avLst>
          </a:prstGeom>
          <a:solidFill>
            <a:srgbClr val="4950BC"/>
          </a:solidFill>
          <a:ln/>
        </p:spPr>
      </p:sp>
      <p:sp>
        <p:nvSpPr>
          <p:cNvPr id="20" name="Text 17"/>
          <p:cNvSpPr/>
          <p:nvPr/>
        </p:nvSpPr>
        <p:spPr>
          <a:xfrm>
            <a:off x="9053355" y="5302448"/>
            <a:ext cx="26184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Workforce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053355" y="5642967"/>
            <a:ext cx="4150599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400,000 employees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it one of Russia's largest private employers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8809515" y="6328291"/>
            <a:ext cx="4726662" cy="1302544"/>
          </a:xfrm>
          <a:prstGeom prst="roundRect">
            <a:avLst>
              <a:gd name="adj" fmla="val 842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86655" y="6328291"/>
            <a:ext cx="125686" cy="1302544"/>
          </a:xfrm>
          <a:prstGeom prst="roundRect">
            <a:avLst>
              <a:gd name="adj" fmla="val 70000"/>
            </a:avLst>
          </a:prstGeom>
          <a:solidFill>
            <a:srgbClr val="4950BC"/>
          </a:solidFill>
          <a:ln/>
        </p:spPr>
      </p:sp>
      <p:sp>
        <p:nvSpPr>
          <p:cNvPr id="24" name="Text 21"/>
          <p:cNvSpPr/>
          <p:nvPr/>
        </p:nvSpPr>
        <p:spPr>
          <a:xfrm>
            <a:off x="9053354" y="6503551"/>
            <a:ext cx="28865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International Presence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053355" y="6844070"/>
            <a:ext cx="4150599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in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Poland, Slovakia, Czech Republic, Germany, Kazakhstan, Belarus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more</a:t>
            </a:r>
            <a:endParaRPr lang="en-US" sz="145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41F2B46B-05DA-5D06-3D09-45058DD3D555}"/>
              </a:ext>
            </a:extLst>
          </p:cNvPr>
          <p:cNvSpPr/>
          <p:nvPr/>
        </p:nvSpPr>
        <p:spPr>
          <a:xfrm>
            <a:off x="533399" y="778907"/>
            <a:ext cx="548639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3600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General information</a:t>
            </a:r>
            <a:endParaRPr lang="en-US" sz="36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7344" y="1732478"/>
            <a:ext cx="782931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Wildberries operates as a full-scale marketplace with over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 product categories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spanning fashion, electronics, home goods, beauty, and groceries.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7344" y="2456736"/>
            <a:ext cx="7829312" cy="1334453"/>
          </a:xfrm>
          <a:prstGeom prst="roundRect">
            <a:avLst>
              <a:gd name="adj" fmla="val 591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2726" y="2652117"/>
            <a:ext cx="2420779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Fashion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2726" y="3046452"/>
            <a:ext cx="7438549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Clothing, footwear, and accessories for men, women, and children — the platform's original core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7344" y="3946684"/>
            <a:ext cx="7829312" cy="1334453"/>
          </a:xfrm>
          <a:prstGeom prst="roundRect">
            <a:avLst>
              <a:gd name="adj" fmla="val 591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2726" y="4142065"/>
            <a:ext cx="234791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Electronics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2726" y="4536400"/>
            <a:ext cx="7438549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Smartphones, laptops, home appliances, and consumer electronics from leading brands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7344" y="5436632"/>
            <a:ext cx="7829312" cy="1059775"/>
          </a:xfrm>
          <a:prstGeom prst="roundRect">
            <a:avLst>
              <a:gd name="adj" fmla="val 744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2726" y="5632013"/>
            <a:ext cx="234791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Home &amp; Living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2726" y="6026348"/>
            <a:ext cx="743854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Furniture, decor, kitchenware, and household essentials for everyday life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7344" y="6651903"/>
            <a:ext cx="7829312" cy="1059775"/>
          </a:xfrm>
          <a:prstGeom prst="roundRect">
            <a:avLst>
              <a:gd name="adj" fmla="val 744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726" y="6847284"/>
            <a:ext cx="244197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Groceries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52726" y="7241619"/>
            <a:ext cx="743854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Rapidly expanding food delivery and fast-moving consumer goods segment</a:t>
            </a:r>
            <a:endParaRPr lang="en-US" sz="145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1736074D-DA9A-5B8A-BC33-73B4F3596EAD}"/>
              </a:ext>
            </a:extLst>
          </p:cNvPr>
          <p:cNvSpPr/>
          <p:nvPr/>
        </p:nvSpPr>
        <p:spPr>
          <a:xfrm>
            <a:off x="533399" y="778907"/>
            <a:ext cx="548639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3600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What Wildberries Sells</a:t>
            </a:r>
            <a:endParaRPr lang="en-US" sz="36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05" y="1896547"/>
            <a:ext cx="8108275" cy="4540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2381" y="3287554"/>
            <a:ext cx="269771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Financial Highlights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22381" y="3725108"/>
            <a:ext cx="4158496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Wildberries has demonstrated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revenue growth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reaching an estimated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$8.5 billion 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2023. The company has historically operated at thin margins, reinvesting heavily into logistics and expansion.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34045" y="6750963"/>
            <a:ext cx="45720" cy="95773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6"/>
          <p:cNvSpPr/>
          <p:nvPr/>
        </p:nvSpPr>
        <p:spPr>
          <a:xfrm>
            <a:off x="1186815" y="6773823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/>
              <a:t>EBITDA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6815" y="7151489"/>
            <a:ext cx="6034683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Reportedly positive in recent years, though exact figures are privately held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85804" y="6750963"/>
            <a:ext cx="45720" cy="95773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7638574" y="6773823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Cash Flow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638574" y="7151489"/>
            <a:ext cx="6034802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operational cash flow driven by high transaction volume and seller commissions</a:t>
            </a:r>
            <a:endParaRPr lang="en-US" sz="145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107F25E-6121-2F5A-B812-B9E82741A303}"/>
              </a:ext>
            </a:extLst>
          </p:cNvPr>
          <p:cNvSpPr/>
          <p:nvPr/>
        </p:nvSpPr>
        <p:spPr>
          <a:xfrm>
            <a:off x="533399" y="778907"/>
            <a:ext cx="548639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00"/>
              </a:lnSpc>
            </a:pPr>
            <a:r>
              <a:rPr lang="en-US" sz="3600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Revenue &amp; Profitability</a:t>
            </a:r>
            <a:endParaRPr lang="en-US" sz="36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23" y="1571387"/>
            <a:ext cx="5189815" cy="518981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123" y="1571387"/>
            <a:ext cx="5189815" cy="51898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2844" y="3575209"/>
            <a:ext cx="245506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Dominant Market Position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512844" y="3925967"/>
            <a:ext cx="5189815" cy="842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Wildberries commands approximately </a:t>
            </a: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 of Russia's e-commerce market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it the clear category leader. The company continues to grow its international footprint, particularly in Eastern Europe and Central Asia.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3583" y="7007185"/>
            <a:ext cx="233839" cy="2338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41734" y="7002423"/>
            <a:ext cx="219825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Competitor: Ozon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2441734" y="7310318"/>
            <a:ext cx="4806434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Aggressively expanding with heavy investment in logistics and advertising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0573" y="7007185"/>
            <a:ext cx="233839" cy="2338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88724" y="7002423"/>
            <a:ext cx="3118247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Emerging Threat: Yandex Market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7888724" y="7310318"/>
            <a:ext cx="480643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tech ecosystem and same-day delivery capabilities</a:t>
            </a:r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F1C7DA4-DE4C-7B65-3E22-320D90C5C1A5}"/>
              </a:ext>
            </a:extLst>
          </p:cNvPr>
          <p:cNvSpPr/>
          <p:nvPr/>
        </p:nvSpPr>
        <p:spPr>
          <a:xfrm>
            <a:off x="533399" y="778907"/>
            <a:ext cx="1284514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en-US" sz="3600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Market Share &amp; Competitive Landscape</a:t>
            </a:r>
            <a:endParaRPr lang="en-US" sz="36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930" y="1536502"/>
            <a:ext cx="416362" cy="4163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2930" y="2105739"/>
            <a:ext cx="2436257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Digital-First Advertising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2930" y="2439352"/>
            <a:ext cx="7978140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investment in performance marketing, social media, and influencer partnerships across VK, Telegram, and YouTube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930" y="3146108"/>
            <a:ext cx="416362" cy="4163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2930" y="371534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Loyalty Programs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82930" y="4048958"/>
            <a:ext cx="7978140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Wildberries Club and bonus point systems drive repeat purchases and increase customer lifetime value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930" y="4755713"/>
            <a:ext cx="416362" cy="4163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2930" y="5324951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 Awareness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82930" y="5658564"/>
            <a:ext cx="7978140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unaided brand awareness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among Russian online shoppers — one of the strongest retail brands in the CIS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930" y="6365319"/>
            <a:ext cx="416362" cy="4163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2930" y="6934557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Offline Touchpoints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582930" y="7268170"/>
            <a:ext cx="7978140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30,000+ pickup points double as brand ambassadors, creating physical presence without traditional retail costs</a:t>
            </a:r>
            <a:endParaRPr lang="en-US" sz="13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93B7544-7459-AC12-C5C3-4D4A216CC0DA}"/>
              </a:ext>
            </a:extLst>
          </p:cNvPr>
          <p:cNvSpPr/>
          <p:nvPr/>
        </p:nvSpPr>
        <p:spPr>
          <a:xfrm>
            <a:off x="533399" y="778907"/>
            <a:ext cx="880654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50"/>
              </a:lnSpc>
            </a:pPr>
            <a:r>
              <a:rPr lang="en-US" sz="3600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Advertising &amp; Brand Strategy</a:t>
            </a:r>
            <a:endParaRPr lang="en-US" sz="36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4513" y="2746415"/>
            <a:ext cx="2180749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Success Drivers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534513" y="3167182"/>
            <a:ext cx="390644" cy="390644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99581" y="3199686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8058031" y="3226832"/>
            <a:ext cx="2484239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Logistics Infrastructure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058031" y="3630930"/>
            <a:ext cx="525601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fulfillment network with 30,000+ pickup points — a moat competitors cannot easily replicate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534513" y="4387334"/>
            <a:ext cx="390644" cy="390644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99581" y="4419838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8058031" y="4446984"/>
            <a:ext cx="3332559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Asset-Light Marketplace Model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058031" y="4851083"/>
            <a:ext cx="525601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Wildberries holds minimal inventory, reducing risk while earning commissions from thousands of sellers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534513" y="5607487"/>
            <a:ext cx="390644" cy="390644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599581" y="5639991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4"/>
          <p:cNvSpPr/>
          <p:nvPr/>
        </p:nvSpPr>
        <p:spPr>
          <a:xfrm>
            <a:off x="8058031" y="5667137"/>
            <a:ext cx="2457331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First-Mover Advantage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8058031" y="6071235"/>
            <a:ext cx="525601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in 2004, Wildberries built trust and scale before e-commerce became mainstream in Russia</a:t>
            </a:r>
            <a:endParaRPr lang="en-US" sz="135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606840D7-108E-D914-D036-9C234687ED08}"/>
              </a:ext>
            </a:extLst>
          </p:cNvPr>
          <p:cNvSpPr/>
          <p:nvPr/>
        </p:nvSpPr>
        <p:spPr>
          <a:xfrm>
            <a:off x="533399" y="778907"/>
            <a:ext cx="880654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50"/>
              </a:lnSpc>
            </a:pPr>
            <a:r>
              <a:rPr lang="en-US" sz="3600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SWOT Analysis: Why Wildberries Succeeds</a:t>
            </a:r>
            <a:endParaRPr lang="en-US" sz="36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</TotalTime>
  <Words>466</Words>
  <Application>Microsoft Office PowerPoint</Application>
  <PresentationFormat>Произвольный</PresentationFormat>
  <Paragraphs>65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Inter Bold</vt:lpstr>
      <vt:lpstr>Calibri Light</vt:lpstr>
      <vt:lpstr>Calibri</vt:lpstr>
      <vt:lpstr>Inter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3BE3DA</cp:lastModifiedBy>
  <cp:revision>5</cp:revision>
  <dcterms:created xsi:type="dcterms:W3CDTF">2026-04-16T15:28:44Z</dcterms:created>
  <dcterms:modified xsi:type="dcterms:W3CDTF">2026-04-16T16:03:04Z</dcterms:modified>
</cp:coreProperties>
</file>