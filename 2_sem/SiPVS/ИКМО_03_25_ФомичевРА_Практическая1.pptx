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</p:sldIdLst>
  <p:sldSz cx="15240000" cy="85725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67" d="100"/>
          <a:sy n="67" d="100"/>
        </p:scale>
        <p:origin x="610" y="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8788B57-AD5F-4441-93CE-CA400B4E5EA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2BD6842-6FAA-4E8D-AD9A-F6EDD35C8AE5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F224A2C-AB81-4750-A379-A59A2CFA9F7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ABB30D2-3D31-4A1B-8746-BBAFD2A84BD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AAF8B75D-9895-4D7B-ADFC-20310AA00C0C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8C488A-079E-497B-B490-8B9207B5E9E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67F89BB7-C431-4EC6-80AA-AFB125A1D49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F624AA4-63E7-4B07-9BAF-FA2093730481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89DF675-3F32-4526-8CFB-31BE89432403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EB764B-BD39-4514-BED2-0991C5DDB1B7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F5A6530-6DCB-43C0-B8A7-87FED8DB3866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581" y="326882"/>
            <a:ext cx="1112838" cy="12612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2254185" y="1465040"/>
            <a:ext cx="10230893" cy="23814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62769" algn="ctr" eaLnBrk="0" fontAlgn="ctr" hangingPunct="0"/>
            <a:r>
              <a:rPr lang="ru-RU" sz="17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562769" algn="ctr" eaLnBrk="0" fontAlgn="ctr" hangingPunct="0"/>
            <a:r>
              <a:rPr lang="ru-RU" sz="1750" spc="-13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75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62769" algn="ctr" eaLnBrk="0" fontAlgn="ctr" hangingPunct="0"/>
            <a:r>
              <a:rPr lang="ru-RU" sz="1750" spc="-13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75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62769" algn="ctr"/>
            <a:r>
              <a:rPr lang="ru-RU" sz="175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75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62769" algn="ctr" eaLnBrk="0" fontAlgn="ctr" hangingPunct="0"/>
            <a:r>
              <a:rPr lang="ru-RU" sz="1750" b="1" spc="-38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</a:p>
          <a:p>
            <a:pPr indent="562769" algn="ctr" eaLnBrk="0" fontAlgn="ctr" hangingPunct="0"/>
            <a:endParaRPr lang="ru-RU" sz="175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62769" algn="ctr">
              <a:lnSpc>
                <a:spcPct val="150000"/>
              </a:lnSpc>
            </a:pPr>
            <a:r>
              <a:rPr lang="ru-RU" sz="175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75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7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гуманитарных и социальных наук (КГИСН)</a:t>
            </a:r>
            <a:endParaRPr lang="ru-RU" sz="175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>
            <a:cxnSpLocks/>
          </p:cNvCxnSpPr>
          <p:nvPr/>
        </p:nvCxnSpPr>
        <p:spPr>
          <a:xfrm>
            <a:off x="3210127" y="3858003"/>
            <a:ext cx="89372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>
            <a:cxnSpLocks/>
          </p:cNvCxnSpPr>
          <p:nvPr/>
        </p:nvCxnSpPr>
        <p:spPr>
          <a:xfrm>
            <a:off x="3210127" y="2905191"/>
            <a:ext cx="880353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6078109" y="4055417"/>
            <a:ext cx="3083793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2706" algn="ctr"/>
            <a:r>
              <a:rPr lang="ru-RU" sz="225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</a:t>
            </a:r>
            <a:endParaRPr lang="ru-RU" sz="17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761999" y="4609225"/>
            <a:ext cx="13716000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5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«Снижение практической подготовки студентов»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42F2E6-8354-45B7-A719-95B393BC4A5D}"/>
              </a:ext>
            </a:extLst>
          </p:cNvPr>
          <p:cNvSpPr/>
          <p:nvPr/>
        </p:nvSpPr>
        <p:spPr>
          <a:xfrm>
            <a:off x="11442160" y="7119004"/>
            <a:ext cx="3553503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750" b="1" spc="-1" dirty="0">
                <a:solidFill>
                  <a:srgbClr val="000000"/>
                </a:solidFill>
                <a:latin typeface="Times New Roman"/>
              </a:rPr>
              <a:t>Преподаватель</a:t>
            </a:r>
            <a:r>
              <a:rPr lang="en-US" sz="1750" b="1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1750" b="1" spc="-1" dirty="0" err="1">
                <a:solidFill>
                  <a:srgbClr val="000000"/>
                </a:solidFill>
                <a:latin typeface="Times New Roman"/>
              </a:rPr>
              <a:t>Барматова</a:t>
            </a:r>
            <a:r>
              <a:rPr lang="ru-RU" sz="1750" b="1" spc="-1" dirty="0">
                <a:solidFill>
                  <a:srgbClr val="000000"/>
                </a:solidFill>
                <a:latin typeface="Times New Roman"/>
              </a:rPr>
              <a:t> С.П.</a:t>
            </a:r>
            <a:endParaRPr lang="en-US" sz="1750" spc="-1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2460542" y="5259672"/>
            <a:ext cx="10318914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ИКМО-03-25 Фомичев Роман Алексеевич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C436042-EF8C-4FD9-8B52-6F6FF1D430A8}"/>
              </a:ext>
            </a:extLst>
          </p:cNvPr>
          <p:cNvSpPr/>
          <p:nvPr/>
        </p:nvSpPr>
        <p:spPr>
          <a:xfrm>
            <a:off x="5720850" y="7877250"/>
            <a:ext cx="3146400" cy="806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12500" tIns="56250" rIns="112500" bIns="5625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2250" spc="-1" dirty="0">
                <a:solidFill>
                  <a:srgbClr val="000000"/>
                </a:solidFill>
                <a:latin typeface="Times New Roman"/>
              </a:rPr>
              <a:t>Москва, 2026</a:t>
            </a:r>
            <a:endParaRPr lang="en-US" sz="2250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225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04520" y="2622550"/>
            <a:ext cx="635000" cy="635000"/>
          </a:xfrm>
          <a:prstGeom prst="rect">
            <a:avLst/>
          </a:prstGeom>
          <a:ln w="0">
            <a:noFill/>
          </a:ln>
        </p:spPr>
      </p:pic>
      <p:pic>
        <p:nvPicPr>
          <p:cNvPr id="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04520" y="5099050"/>
            <a:ext cx="635000" cy="635000"/>
          </a:xfrm>
          <a:prstGeom prst="rect">
            <a:avLst/>
          </a:prstGeom>
          <a:ln w="0">
            <a:noFill/>
          </a:ln>
        </p:spPr>
      </p:pic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7792720" y="2635250"/>
            <a:ext cx="635000" cy="635000"/>
          </a:xfrm>
          <a:prstGeom prst="rect">
            <a:avLst/>
          </a:prstGeom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7792720" y="5099050"/>
            <a:ext cx="635000" cy="635000"/>
          </a:xfrm>
          <a:prstGeom prst="rect">
            <a:avLst/>
          </a:prstGeom>
          <a:ln w="0">
            <a:noFill/>
          </a:ln>
        </p:spPr>
      </p:pic>
      <p:pic>
        <p:nvPicPr>
          <p:cNvPr id="6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06120" y="2724150"/>
            <a:ext cx="419100" cy="419100"/>
          </a:xfrm>
          <a:prstGeom prst="rect">
            <a:avLst/>
          </a:prstGeom>
          <a:ln w="0">
            <a:noFill/>
          </a:ln>
        </p:spPr>
      </p:pic>
      <p:pic>
        <p:nvPicPr>
          <p:cNvPr id="7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706120" y="5200650"/>
            <a:ext cx="419100" cy="419100"/>
          </a:xfrm>
          <a:prstGeom prst="rect">
            <a:avLst/>
          </a:prstGeom>
          <a:ln w="0">
            <a:noFill/>
          </a:ln>
        </p:spPr>
      </p:pic>
      <p:pic>
        <p:nvPicPr>
          <p:cNvPr id="8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7894320" y="2736850"/>
            <a:ext cx="419100" cy="419100"/>
          </a:xfrm>
          <a:prstGeom prst="rect">
            <a:avLst/>
          </a:prstGeom>
          <a:ln w="0">
            <a:noFill/>
          </a:ln>
        </p:spPr>
      </p:pic>
      <p:pic>
        <p:nvPicPr>
          <p:cNvPr id="9" name="New 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7894320" y="5200650"/>
            <a:ext cx="419100" cy="419100"/>
          </a:xfrm>
          <a:prstGeom prst="rect">
            <a:avLst/>
          </a:prstGeom>
          <a:ln w="0">
            <a:noFill/>
          </a:ln>
        </p:spPr>
      </p:pic>
      <p:sp>
        <p:nvSpPr>
          <p:cNvPr id="11" name="New shape"/>
          <p:cNvSpPr txBox="1"/>
          <p:nvPr/>
        </p:nvSpPr>
        <p:spPr>
          <a:xfrm>
            <a:off x="482600" y="368300"/>
            <a:ext cx="14287500" cy="109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000">
                <a:latin typeface="onest Semibold"/>
              </a:defRPr>
            </a:pPr>
            <a:r>
              <a:rPr sz="5000" b="1" i="0" u="none" spc="-29">
                <a:solidFill>
                  <a:srgbClr val="222222"/>
                </a:solidFill>
                <a:latin typeface="onest Semibold"/>
              </a:rPr>
              <a:t>Причины снижения практической подготовки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1671320" y="2609850"/>
            <a:ext cx="58801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00">
                <a:latin typeface="onest Semibold"/>
              </a:defRPr>
            </a:pPr>
            <a:r>
              <a:rPr sz="2900" b="1" i="0" u="none" spc="-9" dirty="0" err="1">
                <a:solidFill>
                  <a:srgbClr val="222222"/>
                </a:solidFill>
                <a:latin typeface="onest Semibold"/>
              </a:rPr>
              <a:t>Нехватка</a:t>
            </a:r>
            <a:r>
              <a:rPr sz="2900" b="1" i="0" u="none" spc="-9" dirty="0">
                <a:solidFill>
                  <a:srgbClr val="222222"/>
                </a:solidFill>
                <a:latin typeface="onest Semibold"/>
              </a:rPr>
              <a:t> </a:t>
            </a:r>
            <a:r>
              <a:rPr sz="2900" b="1" i="0" u="none" spc="-9" dirty="0" err="1">
                <a:solidFill>
                  <a:srgbClr val="222222"/>
                </a:solidFill>
                <a:latin typeface="onest Semibold"/>
              </a:rPr>
              <a:t>практики</a:t>
            </a:r>
            <a:endParaRPr sz="2900" b="1" i="0" u="none" spc="-9" dirty="0">
              <a:solidFill>
                <a:srgbClr val="222222"/>
              </a:solidFill>
              <a:latin typeface="onest Semibold"/>
            </a:endParaRPr>
          </a:p>
        </p:txBody>
      </p:sp>
      <p:sp>
        <p:nvSpPr>
          <p:cNvPr id="13" name="New shape"/>
          <p:cNvSpPr txBox="1"/>
          <p:nvPr/>
        </p:nvSpPr>
        <p:spPr>
          <a:xfrm>
            <a:off x="1671320" y="5086350"/>
            <a:ext cx="58801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00">
                <a:latin typeface="onest Semibold"/>
              </a:defRPr>
            </a:pPr>
            <a:r>
              <a:rPr sz="2900" b="1" i="0" u="none" spc="-9">
                <a:solidFill>
                  <a:srgbClr val="222222"/>
                </a:solidFill>
                <a:latin typeface="onest Semibold"/>
              </a:rPr>
              <a:t>Устаревшие программы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8859520" y="2622550"/>
            <a:ext cx="58801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00">
                <a:latin typeface="onest Semibold"/>
              </a:defRPr>
            </a:pPr>
            <a:r>
              <a:rPr sz="2900" b="1" i="0" u="none" spc="-9">
                <a:solidFill>
                  <a:srgbClr val="222222"/>
                </a:solidFill>
                <a:latin typeface="onest Semibold"/>
              </a:rPr>
              <a:t>Связь с бизнесом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8859520" y="5086350"/>
            <a:ext cx="5880100" cy="431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900">
                <a:latin typeface="onest Semibold"/>
              </a:defRPr>
            </a:pPr>
            <a:r>
              <a:rPr sz="2900" b="1" i="0" u="none" spc="-9">
                <a:solidFill>
                  <a:srgbClr val="222222"/>
                </a:solidFill>
                <a:latin typeface="onest Semibold"/>
              </a:rPr>
              <a:t>Фокус на теории</a:t>
            </a:r>
          </a:p>
        </p:txBody>
      </p:sp>
      <p:sp>
        <p:nvSpPr>
          <p:cNvPr id="16" name="New shape"/>
          <p:cNvSpPr txBox="1"/>
          <p:nvPr/>
        </p:nvSpPr>
        <p:spPr>
          <a:xfrm>
            <a:off x="1671320" y="3143250"/>
            <a:ext cx="58801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Меньше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практики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lang="en-US" sz="2000" b="0" i="0" u="none" spc="-7" dirty="0">
                <a:solidFill>
                  <a:srgbClr val="333333"/>
                </a:solidFill>
                <a:latin typeface="Inter Regular"/>
              </a:rPr>
              <a:t>-&gt;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слабее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навыки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.</a:t>
            </a:r>
          </a:p>
        </p:txBody>
      </p:sp>
      <p:sp>
        <p:nvSpPr>
          <p:cNvPr id="17" name="New shape"/>
          <p:cNvSpPr txBox="1"/>
          <p:nvPr/>
        </p:nvSpPr>
        <p:spPr>
          <a:xfrm>
            <a:off x="1671320" y="5619750"/>
            <a:ext cx="58801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Содержание многих образовательных программ не обновлялось десятилетиями. Это приводит к изучению устаревших технологий и методов работы.</a:t>
            </a:r>
          </a:p>
        </p:txBody>
      </p:sp>
      <p:sp>
        <p:nvSpPr>
          <p:cNvPr id="18" name="New shape"/>
          <p:cNvSpPr txBox="1"/>
          <p:nvPr/>
        </p:nvSpPr>
        <p:spPr>
          <a:xfrm>
            <a:off x="8859520" y="3155950"/>
            <a:ext cx="58801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Слабое взаимодействие вузов с реальным бизнесом ограничивает возможности для стажировок. Предприятия редко участвуют в разработке учебных курсов.</a:t>
            </a:r>
          </a:p>
        </p:txBody>
      </p:sp>
      <p:sp>
        <p:nvSpPr>
          <p:cNvPr id="19" name="New shape"/>
          <p:cNvSpPr txBox="1"/>
          <p:nvPr/>
        </p:nvSpPr>
        <p:spPr>
          <a:xfrm>
            <a:off x="8859520" y="5619750"/>
            <a:ext cx="58801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Теория преобладает над практикой, снижая готовность выпускников к работе.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ew shape"/>
          <p:cNvSpPr txBox="1"/>
          <p:nvPr/>
        </p:nvSpPr>
        <p:spPr>
          <a:xfrm>
            <a:off x="482600" y="368300"/>
            <a:ext cx="14287500" cy="109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000">
                <a:latin typeface="onest Semibold"/>
              </a:defRPr>
            </a:pPr>
            <a:r>
              <a:rPr sz="5000" b="1" i="0" u="none" spc="-29" dirty="0" err="1">
                <a:solidFill>
                  <a:srgbClr val="222222"/>
                </a:solidFill>
                <a:latin typeface="onest Semibold"/>
              </a:rPr>
              <a:t>Влияние</a:t>
            </a:r>
            <a:r>
              <a:rPr sz="5000" b="1" i="0" u="none" spc="-29" dirty="0">
                <a:solidFill>
                  <a:srgbClr val="222222"/>
                </a:solidFill>
                <a:latin typeface="onest Semibold"/>
              </a:rPr>
              <a:t> </a:t>
            </a:r>
            <a:r>
              <a:rPr sz="5000" b="1" i="0" u="none" spc="-29" dirty="0" err="1">
                <a:solidFill>
                  <a:srgbClr val="222222"/>
                </a:solidFill>
                <a:latin typeface="onest Semibold"/>
              </a:rPr>
              <a:t>на</a:t>
            </a:r>
            <a:r>
              <a:rPr sz="5000" b="1" i="0" u="none" spc="-29" dirty="0">
                <a:solidFill>
                  <a:srgbClr val="222222"/>
                </a:solidFill>
                <a:latin typeface="onest Semibold"/>
              </a:rPr>
              <a:t> </a:t>
            </a:r>
            <a:r>
              <a:rPr sz="5000" b="1" i="0" u="none" spc="-29" dirty="0" err="1">
                <a:solidFill>
                  <a:srgbClr val="222222"/>
                </a:solidFill>
                <a:latin typeface="onest Semibold"/>
              </a:rPr>
              <a:t>качество</a:t>
            </a:r>
            <a:r>
              <a:rPr sz="5000" b="1" i="0" u="none" spc="-29" dirty="0">
                <a:solidFill>
                  <a:srgbClr val="222222"/>
                </a:solidFill>
                <a:latin typeface="onest Semibold"/>
              </a:rPr>
              <a:t> </a:t>
            </a:r>
            <a:r>
              <a:rPr sz="5000" b="1" i="0" u="none" spc="-29" dirty="0" err="1">
                <a:solidFill>
                  <a:srgbClr val="222222"/>
                </a:solidFill>
                <a:latin typeface="onest Semibold"/>
              </a:rPr>
              <a:t>образования</a:t>
            </a:r>
            <a:endParaRPr sz="5000" b="1" i="0" u="none" spc="-29" dirty="0">
              <a:solidFill>
                <a:srgbClr val="222222"/>
              </a:solidFill>
              <a:latin typeface="onest Semibold"/>
            </a:endParaRPr>
          </a:p>
        </p:txBody>
      </p:sp>
      <p:sp>
        <p:nvSpPr>
          <p:cNvPr id="4" name="New shape"/>
          <p:cNvSpPr txBox="1"/>
          <p:nvPr/>
        </p:nvSpPr>
        <p:spPr>
          <a:xfrm>
            <a:off x="1600200" y="2457450"/>
            <a:ext cx="59563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700">
                <a:latin typeface="onest Semibold"/>
              </a:defRPr>
            </a:pPr>
            <a:r>
              <a:rPr sz="2700" b="1" i="0" u="none" spc="-9">
                <a:solidFill>
                  <a:srgbClr val="222222"/>
                </a:solidFill>
                <a:latin typeface="onest Semibold"/>
              </a:rPr>
              <a:t>Ухудшение навыков</a:t>
            </a:r>
          </a:p>
        </p:txBody>
      </p:sp>
      <p:sp>
        <p:nvSpPr>
          <p:cNvPr id="5" name="New shape"/>
          <p:cNvSpPr txBox="1"/>
          <p:nvPr/>
        </p:nvSpPr>
        <p:spPr>
          <a:xfrm>
            <a:off x="1600200" y="4921250"/>
            <a:ext cx="59563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700">
                <a:latin typeface="onest Semibold"/>
              </a:defRPr>
            </a:pPr>
            <a:r>
              <a:rPr sz="2700" b="1" i="0" u="none" spc="-9">
                <a:solidFill>
                  <a:srgbClr val="222222"/>
                </a:solidFill>
                <a:latin typeface="onest Semibold"/>
              </a:rPr>
              <a:t>Теория без практики</a:t>
            </a:r>
          </a:p>
        </p:txBody>
      </p:sp>
      <p:sp>
        <p:nvSpPr>
          <p:cNvPr id="6" name="New shape"/>
          <p:cNvSpPr txBox="1"/>
          <p:nvPr/>
        </p:nvSpPr>
        <p:spPr>
          <a:xfrm>
            <a:off x="8978900" y="2457450"/>
            <a:ext cx="59563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700">
                <a:latin typeface="onest Semibold"/>
              </a:defRPr>
            </a:pPr>
            <a:r>
              <a:rPr sz="2700" b="1" i="0" u="none" spc="-9">
                <a:solidFill>
                  <a:srgbClr val="222222"/>
                </a:solidFill>
                <a:latin typeface="onest Semibold"/>
              </a:rPr>
              <a:t>Диплом без опыта</a:t>
            </a:r>
          </a:p>
        </p:txBody>
      </p:sp>
      <p:sp>
        <p:nvSpPr>
          <p:cNvPr id="7" name="New shape"/>
          <p:cNvSpPr txBox="1"/>
          <p:nvPr/>
        </p:nvSpPr>
        <p:spPr>
          <a:xfrm>
            <a:off x="8978900" y="4921250"/>
            <a:ext cx="5956300" cy="40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700">
                <a:latin typeface="onest Semibold"/>
              </a:defRPr>
            </a:pPr>
            <a:r>
              <a:rPr sz="2700" b="1" i="0" u="none" spc="-9">
                <a:solidFill>
                  <a:srgbClr val="222222"/>
                </a:solidFill>
                <a:latin typeface="onest Semibold"/>
              </a:rPr>
              <a:t>Готовность к работе</a:t>
            </a:r>
          </a:p>
        </p:txBody>
      </p:sp>
      <p:pic>
        <p:nvPicPr>
          <p:cNvPr id="8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736600" y="2609850"/>
            <a:ext cx="419100" cy="330200"/>
          </a:xfrm>
          <a:prstGeom prst="rect">
            <a:avLst/>
          </a:prstGeom>
          <a:ln w="0">
            <a:noFill/>
          </a:ln>
        </p:spPr>
      </p:pic>
      <p:pic>
        <p:nvPicPr>
          <p:cNvPr id="9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98500" y="5073650"/>
            <a:ext cx="520700" cy="330200"/>
          </a:xfrm>
          <a:prstGeom prst="rect">
            <a:avLst/>
          </a:prstGeom>
          <a:ln w="0">
            <a:noFill/>
          </a:ln>
        </p:spPr>
      </p:pic>
      <p:pic>
        <p:nvPicPr>
          <p:cNvPr id="10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8089900" y="2609850"/>
            <a:ext cx="508000" cy="330200"/>
          </a:xfrm>
          <a:prstGeom prst="rect">
            <a:avLst/>
          </a:prstGeom>
          <a:ln w="0">
            <a:noFill/>
          </a:ln>
        </p:spPr>
      </p:pic>
      <p:pic>
        <p:nvPicPr>
          <p:cNvPr id="11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8089900" y="5073650"/>
            <a:ext cx="533400" cy="330200"/>
          </a:xfrm>
          <a:prstGeom prst="rect">
            <a:avLst/>
          </a:prstGeom>
          <a:ln w="0">
            <a:noFill/>
          </a:ln>
        </p:spPr>
      </p:pic>
      <p:sp>
        <p:nvSpPr>
          <p:cNvPr id="12" name="New shape"/>
          <p:cNvSpPr txBox="1"/>
          <p:nvPr/>
        </p:nvSpPr>
        <p:spPr>
          <a:xfrm>
            <a:off x="1600200" y="2965450"/>
            <a:ext cx="59563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Студенты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хуже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владеют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прикладными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навыками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,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необходимыми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для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реальной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работы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.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Это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снижает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их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конкурентоспособность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на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рынке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2000" b="0" i="0" u="none" spc="-7" dirty="0" err="1">
                <a:solidFill>
                  <a:srgbClr val="333333"/>
                </a:solidFill>
                <a:latin typeface="Inter Regular"/>
              </a:rPr>
              <a:t>труда</a:t>
            </a:r>
            <a:r>
              <a:rPr sz="2000" b="0" i="0" u="none" spc="-7" dirty="0">
                <a:solidFill>
                  <a:srgbClr val="333333"/>
                </a:solidFill>
                <a:latin typeface="Inter Regular"/>
              </a:rPr>
              <a:t>.</a:t>
            </a:r>
          </a:p>
        </p:txBody>
      </p:sp>
      <p:sp>
        <p:nvSpPr>
          <p:cNvPr id="13" name="New shape"/>
          <p:cNvSpPr txBox="1"/>
          <p:nvPr/>
        </p:nvSpPr>
        <p:spPr>
          <a:xfrm>
            <a:off x="1600200" y="5429250"/>
            <a:ext cx="59563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Акцент смещается на теоретические знания, оставляя мало времени для отработки практических умений. Знания остаются абстрактными.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8978900" y="2965450"/>
            <a:ext cx="59563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Выпускники получают дипломы, но не имеют реального опыта работы. Это создает разрыв между обучением и требованиями работодателей.</a:t>
            </a:r>
          </a:p>
        </p:txBody>
      </p:sp>
      <p:sp>
        <p:nvSpPr>
          <p:cNvPr id="15" name="New shape"/>
          <p:cNvSpPr txBox="1"/>
          <p:nvPr/>
        </p:nvSpPr>
        <p:spPr>
          <a:xfrm>
            <a:off x="8978900" y="5429250"/>
            <a:ext cx="5956300" cy="1320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Недостаток практики ведет к неготовности выпускников к выполнению профессиональных задач. Требуется дополнительное обучение уже на рабочем месте.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648200" y="1430020"/>
            <a:ext cx="4737100" cy="1651000"/>
          </a:xfrm>
          <a:prstGeom prst="roundRect">
            <a:avLst/>
          </a:prstGeom>
          <a:ln w="0">
            <a:noFill/>
          </a:ln>
        </p:spPr>
      </p:pic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648200" y="3486150"/>
            <a:ext cx="4737100" cy="1981200"/>
          </a:xfrm>
          <a:prstGeom prst="roundRect">
            <a:avLst/>
          </a:prstGeom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671060" y="5872480"/>
            <a:ext cx="4737100" cy="1981200"/>
          </a:xfrm>
          <a:prstGeom prst="roundRect">
            <a:avLst/>
          </a:prstGeom>
          <a:ln w="0">
            <a:noFill/>
          </a:ln>
        </p:spPr>
      </p:pic>
      <p:sp>
        <p:nvSpPr>
          <p:cNvPr id="7" name="New shape"/>
          <p:cNvSpPr txBox="1"/>
          <p:nvPr/>
        </p:nvSpPr>
        <p:spPr>
          <a:xfrm>
            <a:off x="4902200" y="1772920"/>
            <a:ext cx="4229100" cy="342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latin typeface="onest Semibold"/>
              </a:defRPr>
            </a:pPr>
            <a:r>
              <a:rPr sz="3200" b="1" i="0" u="none" spc="-7">
                <a:solidFill>
                  <a:srgbClr val="222222"/>
                </a:solidFill>
                <a:latin typeface="onest Semibold"/>
              </a:rPr>
              <a:t>Разрыв с практикой</a:t>
            </a:r>
          </a:p>
        </p:txBody>
      </p:sp>
      <p:sp>
        <p:nvSpPr>
          <p:cNvPr id="8" name="New shape"/>
          <p:cNvSpPr txBox="1"/>
          <p:nvPr/>
        </p:nvSpPr>
        <p:spPr>
          <a:xfrm>
            <a:off x="4951730" y="3608070"/>
            <a:ext cx="422910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latin typeface="onest Semibold"/>
              </a:defRPr>
            </a:pPr>
            <a:r>
              <a:rPr sz="3200" b="1" i="0" u="none" spc="-7" dirty="0" err="1">
                <a:solidFill>
                  <a:srgbClr val="222222"/>
                </a:solidFill>
                <a:latin typeface="onest Semibold"/>
              </a:rPr>
              <a:t>Без</a:t>
            </a:r>
            <a:r>
              <a:rPr sz="3200" b="1" i="0" u="none" spc="-7" dirty="0">
                <a:solidFill>
                  <a:srgbClr val="222222"/>
                </a:solidFill>
                <a:latin typeface="onest Semibold"/>
              </a:rPr>
              <a:t> </a:t>
            </a:r>
            <a:r>
              <a:rPr sz="3200" b="1" i="0" u="none" spc="-7" dirty="0" err="1">
                <a:solidFill>
                  <a:srgbClr val="222222"/>
                </a:solidFill>
                <a:latin typeface="onest Semibold"/>
              </a:rPr>
              <a:t>опыта</a:t>
            </a:r>
            <a:r>
              <a:rPr sz="3200" b="1" i="0" u="none" spc="-7" dirty="0">
                <a:solidFill>
                  <a:srgbClr val="222222"/>
                </a:solidFill>
                <a:latin typeface="onest Semibold"/>
              </a:rPr>
              <a:t> </a:t>
            </a:r>
            <a:r>
              <a:rPr sz="3200" b="1" i="0" u="none" spc="-7" dirty="0" err="1">
                <a:solidFill>
                  <a:srgbClr val="222222"/>
                </a:solidFill>
                <a:latin typeface="onest Semibold"/>
              </a:rPr>
              <a:t>работы</a:t>
            </a:r>
            <a:endParaRPr sz="3200" b="1" i="0" u="none" spc="-7" dirty="0">
              <a:solidFill>
                <a:srgbClr val="222222"/>
              </a:solidFill>
              <a:latin typeface="onest Semibold"/>
            </a:endParaRPr>
          </a:p>
        </p:txBody>
      </p:sp>
      <p:sp>
        <p:nvSpPr>
          <p:cNvPr id="9" name="New shape"/>
          <p:cNvSpPr txBox="1"/>
          <p:nvPr/>
        </p:nvSpPr>
        <p:spPr>
          <a:xfrm>
            <a:off x="4925060" y="6090920"/>
            <a:ext cx="4229100" cy="647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b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latin typeface="onest Semibold"/>
              </a:defRPr>
            </a:pPr>
            <a:r>
              <a:rPr sz="3200" b="1" i="0" u="none" spc="-7" dirty="0" err="1">
                <a:solidFill>
                  <a:srgbClr val="222222"/>
                </a:solidFill>
                <a:latin typeface="onest Semibold"/>
              </a:rPr>
              <a:t>Вузы</a:t>
            </a:r>
            <a:r>
              <a:rPr sz="3200" b="1" i="0" u="none" spc="-7" dirty="0">
                <a:solidFill>
                  <a:srgbClr val="222222"/>
                </a:solidFill>
                <a:latin typeface="onest Semibold"/>
              </a:rPr>
              <a:t> и </a:t>
            </a:r>
            <a:r>
              <a:rPr sz="3200" b="1" i="0" u="none" spc="-7" dirty="0" err="1">
                <a:solidFill>
                  <a:srgbClr val="222222"/>
                </a:solidFill>
                <a:latin typeface="onest Semibold"/>
              </a:rPr>
              <a:t>бизнес</a:t>
            </a:r>
            <a:endParaRPr sz="3200" b="1" i="0" u="none" spc="-7" dirty="0">
              <a:solidFill>
                <a:srgbClr val="222222"/>
              </a:solidFill>
              <a:latin typeface="onest Semibold"/>
            </a:endParaRPr>
          </a:p>
        </p:txBody>
      </p:sp>
      <p:sp>
        <p:nvSpPr>
          <p:cNvPr id="10" name="New shape"/>
          <p:cNvSpPr txBox="1"/>
          <p:nvPr/>
        </p:nvSpPr>
        <p:spPr>
          <a:xfrm>
            <a:off x="4902200" y="2184415"/>
            <a:ext cx="4229100" cy="7493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>
                <a:latin typeface="Inter Regular"/>
              </a:defRPr>
            </a:pP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Разрыв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теории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и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практики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снижает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актуальность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знаний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.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4951730" y="4405630"/>
            <a:ext cx="4229100" cy="977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>
                <a:latin typeface="Inter Regular"/>
              </a:defRPr>
            </a:pP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Выпускники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без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опыта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из-за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отсутствия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практики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.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Это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усложняет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трудоустройство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.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4925060" y="6738620"/>
            <a:ext cx="4229100" cy="863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>
                <a:latin typeface="Inter Regular"/>
              </a:defRPr>
            </a:pP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Нехватка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диалога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вузов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и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бизнеса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ведет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к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устаревшим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программам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и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дефициту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 </a:t>
            </a:r>
            <a:r>
              <a:rPr sz="1800" b="0" i="0" u="none" spc="-6" dirty="0" err="1">
                <a:solidFill>
                  <a:srgbClr val="333333"/>
                </a:solidFill>
                <a:latin typeface="Inter Regular"/>
              </a:rPr>
              <a:t>кадров</a:t>
            </a:r>
            <a:r>
              <a:rPr sz="1800" b="0" i="0" u="none" spc="-6" dirty="0">
                <a:solidFill>
                  <a:srgbClr val="333333"/>
                </a:solidFill>
                <a:latin typeface="Inter Regular"/>
              </a:rPr>
              <a:t>.</a:t>
            </a:r>
          </a:p>
        </p:txBody>
      </p:sp>
      <p:sp>
        <p:nvSpPr>
          <p:cNvPr id="13" name="New shape">
            <a:extLst>
              <a:ext uri="{FF2B5EF4-FFF2-40B4-BE49-F238E27FC236}">
                <a16:creationId xmlns:a16="http://schemas.microsoft.com/office/drawing/2014/main" id="{AA0B9EB3-4082-E67E-2B09-AA9DA583FCBA}"/>
              </a:ext>
            </a:extLst>
          </p:cNvPr>
          <p:cNvSpPr txBox="1"/>
          <p:nvPr/>
        </p:nvSpPr>
        <p:spPr>
          <a:xfrm>
            <a:off x="476250" y="349250"/>
            <a:ext cx="14287500" cy="109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000">
                <a:latin typeface="onest Semibold"/>
              </a:defRPr>
            </a:pPr>
            <a:r>
              <a:rPr lang="ru-RU" sz="5000" b="1" i="0" u="none" spc="-29" dirty="0">
                <a:solidFill>
                  <a:srgbClr val="222222"/>
                </a:solidFill>
                <a:latin typeface="onest Semibold"/>
              </a:rPr>
              <a:t>Нехватка взаимодействия с работодателями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516890" y="3524250"/>
            <a:ext cx="762000" cy="762000"/>
          </a:xfrm>
          <a:prstGeom prst="rect">
            <a:avLst/>
          </a:prstGeom>
          <a:ln w="0">
            <a:noFill/>
          </a:ln>
        </p:spPr>
      </p:pic>
      <p:pic>
        <p:nvPicPr>
          <p:cNvPr id="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7933690" y="3524250"/>
            <a:ext cx="762000" cy="762000"/>
          </a:xfrm>
          <a:prstGeom prst="rect">
            <a:avLst/>
          </a:prstGeom>
          <a:ln w="0">
            <a:noFill/>
          </a:ln>
        </p:spPr>
      </p:pic>
      <p:pic>
        <p:nvPicPr>
          <p:cNvPr id="4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43890" y="3651250"/>
            <a:ext cx="508000" cy="508000"/>
          </a:xfrm>
          <a:prstGeom prst="rect">
            <a:avLst/>
          </a:prstGeom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8060690" y="3651250"/>
            <a:ext cx="508000" cy="508000"/>
          </a:xfrm>
          <a:prstGeom prst="rect">
            <a:avLst/>
          </a:prstGeom>
          <a:ln w="0">
            <a:noFill/>
          </a:ln>
        </p:spPr>
      </p:pic>
      <p:sp>
        <p:nvSpPr>
          <p:cNvPr id="8" name="New shape"/>
          <p:cNvSpPr txBox="1"/>
          <p:nvPr/>
        </p:nvSpPr>
        <p:spPr>
          <a:xfrm>
            <a:off x="1583690" y="3524250"/>
            <a:ext cx="5943600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latin typeface="onest Semibold"/>
              </a:defRPr>
            </a:pPr>
            <a:r>
              <a:rPr sz="3200" b="1" i="0" u="none" spc="-9">
                <a:solidFill>
                  <a:srgbClr val="222222"/>
                </a:solidFill>
                <a:latin typeface="onest Semibold"/>
              </a:rPr>
              <a:t>Трудоустройство выпускников</a:t>
            </a:r>
          </a:p>
        </p:txBody>
      </p:sp>
      <p:sp>
        <p:nvSpPr>
          <p:cNvPr id="9" name="New shape"/>
          <p:cNvSpPr txBox="1"/>
          <p:nvPr/>
        </p:nvSpPr>
        <p:spPr>
          <a:xfrm>
            <a:off x="9000490" y="3524250"/>
            <a:ext cx="5943600" cy="660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latin typeface="onest Semibold"/>
              </a:defRPr>
            </a:pPr>
            <a:r>
              <a:rPr sz="3200" b="1" i="0" u="none" spc="-9">
                <a:solidFill>
                  <a:srgbClr val="222222"/>
                </a:solidFill>
                <a:latin typeface="onest Semibold"/>
              </a:rPr>
              <a:t>Практика и карьера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1583690" y="4286250"/>
            <a:ext cx="5943600" cy="228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Выпускники без практики сложно находят работу. Работодатели ценят реальные навыки.</a:t>
            </a:r>
          </a:p>
        </p:txBody>
      </p:sp>
      <p:sp>
        <p:nvSpPr>
          <p:cNvPr id="11" name="New shape"/>
          <p:cNvSpPr txBox="1"/>
          <p:nvPr/>
        </p:nvSpPr>
        <p:spPr>
          <a:xfrm>
            <a:off x="9000490" y="4286250"/>
            <a:ext cx="5943600" cy="228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000">
                <a:latin typeface="Inter Regular"/>
              </a:defRPr>
            </a:pPr>
            <a:r>
              <a:rPr sz="2000" b="0" i="0" u="none" spc="-7">
                <a:solidFill>
                  <a:srgbClr val="333333"/>
                </a:solidFill>
                <a:latin typeface="Inter Regular"/>
              </a:rPr>
              <a:t>Отсутствие практики снижает конкурентоспособность выпускников, замедляет карьерный рост и удлиняет адаптацию.</a:t>
            </a:r>
          </a:p>
        </p:txBody>
      </p:sp>
      <p:sp>
        <p:nvSpPr>
          <p:cNvPr id="12" name="New shape">
            <a:extLst>
              <a:ext uri="{FF2B5EF4-FFF2-40B4-BE49-F238E27FC236}">
                <a16:creationId xmlns:a16="http://schemas.microsoft.com/office/drawing/2014/main" id="{BDEDEB3A-0A55-C520-5AC0-297BB3458E07}"/>
              </a:ext>
            </a:extLst>
          </p:cNvPr>
          <p:cNvSpPr txBox="1"/>
          <p:nvPr/>
        </p:nvSpPr>
        <p:spPr>
          <a:xfrm>
            <a:off x="482600" y="368300"/>
            <a:ext cx="14287500" cy="109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000">
                <a:latin typeface="onest Semibold"/>
              </a:defRPr>
            </a:pPr>
            <a:r>
              <a:rPr lang="ru-RU" sz="5000" b="1" i="0" u="none" spc="-29" dirty="0">
                <a:solidFill>
                  <a:srgbClr val="222222"/>
                </a:solidFill>
                <a:latin typeface="onest Semibold"/>
              </a:rPr>
              <a:t>Последствия для трудоустройства выпускников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114800" y="1771650"/>
            <a:ext cx="6248400" cy="2463800"/>
          </a:xfrm>
          <a:prstGeom prst="roundRect">
            <a:avLst/>
          </a:prstGeom>
          <a:ln w="0">
            <a:noFill/>
          </a:ln>
        </p:spPr>
      </p:pic>
      <p:pic>
        <p:nvPicPr>
          <p:cNvPr id="5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080510" y="5073650"/>
            <a:ext cx="6435090" cy="2463800"/>
          </a:xfrm>
          <a:prstGeom prst="roundRect">
            <a:avLst/>
          </a:prstGeom>
          <a:ln w="0">
            <a:noFill/>
          </a:ln>
        </p:spPr>
      </p:pic>
      <p:sp>
        <p:nvSpPr>
          <p:cNvPr id="8" name="New shape"/>
          <p:cNvSpPr txBox="1"/>
          <p:nvPr/>
        </p:nvSpPr>
        <p:spPr>
          <a:xfrm>
            <a:off x="4317999" y="2063750"/>
            <a:ext cx="5475871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latin typeface="onest Semibold"/>
              </a:defRPr>
            </a:pPr>
            <a:r>
              <a:rPr sz="2200" b="1" i="0" u="none" spc="-7">
                <a:solidFill>
                  <a:srgbClr val="222222"/>
                </a:solidFill>
                <a:latin typeface="onest Semibold"/>
              </a:rPr>
              <a:t>Интеграция с бизнесом</a:t>
            </a:r>
          </a:p>
        </p:txBody>
      </p:sp>
      <p:sp>
        <p:nvSpPr>
          <p:cNvPr id="10" name="New shape"/>
          <p:cNvSpPr txBox="1"/>
          <p:nvPr/>
        </p:nvSpPr>
        <p:spPr>
          <a:xfrm>
            <a:off x="4283709" y="5365750"/>
            <a:ext cx="5639479" cy="330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latin typeface="onest Semibold"/>
              </a:defRPr>
            </a:pPr>
            <a:r>
              <a:rPr sz="2200" b="1" i="0" u="none" spc="-7">
                <a:solidFill>
                  <a:srgbClr val="222222"/>
                </a:solidFill>
                <a:latin typeface="onest Semibold"/>
              </a:rPr>
              <a:t>Стажировки обязательны</a:t>
            </a:r>
          </a:p>
        </p:txBody>
      </p:sp>
      <p:sp>
        <p:nvSpPr>
          <p:cNvPr id="12" name="New shape"/>
          <p:cNvSpPr txBox="1"/>
          <p:nvPr/>
        </p:nvSpPr>
        <p:spPr>
          <a:xfrm>
            <a:off x="4317999" y="2482850"/>
            <a:ext cx="5475871" cy="146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>
                <a:latin typeface="Inter Regular"/>
              </a:defRPr>
            </a:pPr>
            <a:r>
              <a:rPr sz="1800" b="0" i="0" u="none" spc="-6">
                <a:solidFill>
                  <a:srgbClr val="333333"/>
                </a:solidFill>
                <a:latin typeface="Inter Regular"/>
              </a:rPr>
              <a:t>Активное привлечение представителей бизнеса к разработке учебных программ и проведению занятий повысит актуальность получаемых студентами навыков.</a:t>
            </a:r>
          </a:p>
        </p:txBody>
      </p:sp>
      <p:sp>
        <p:nvSpPr>
          <p:cNvPr id="14" name="New shape"/>
          <p:cNvSpPr txBox="1"/>
          <p:nvPr/>
        </p:nvSpPr>
        <p:spPr>
          <a:xfrm>
            <a:off x="4283709" y="5784850"/>
            <a:ext cx="5639479" cy="1460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800">
                <a:latin typeface="Inter Regular"/>
              </a:defRPr>
            </a:pPr>
            <a:r>
              <a:rPr sz="1800" b="0" i="0" u="none" spc="-6">
                <a:solidFill>
                  <a:srgbClr val="333333"/>
                </a:solidFill>
                <a:latin typeface="Inter Regular"/>
              </a:rPr>
              <a:t>Введение обязательных стажировок для всех студентов обеспечит им реальный опыт работы по специальности еще до окончания вуза.</a:t>
            </a:r>
          </a:p>
        </p:txBody>
      </p:sp>
      <p:sp>
        <p:nvSpPr>
          <p:cNvPr id="16" name="New shape">
            <a:extLst>
              <a:ext uri="{FF2B5EF4-FFF2-40B4-BE49-F238E27FC236}">
                <a16:creationId xmlns:a16="http://schemas.microsoft.com/office/drawing/2014/main" id="{28243F8C-58EA-5C2D-69F9-45CD1A7E218E}"/>
              </a:ext>
            </a:extLst>
          </p:cNvPr>
          <p:cNvSpPr txBox="1"/>
          <p:nvPr/>
        </p:nvSpPr>
        <p:spPr>
          <a:xfrm>
            <a:off x="482600" y="368300"/>
            <a:ext cx="14287500" cy="1092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marL="0" marR="0" algn="l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5000">
                <a:latin typeface="onest Semibold"/>
              </a:defRPr>
            </a:pPr>
            <a:r>
              <a:rPr lang="ru-RU" sz="5000" b="1" i="0" u="none" spc="-29" dirty="0">
                <a:solidFill>
                  <a:srgbClr val="222222"/>
                </a:solidFill>
                <a:latin typeface="onest Semibold"/>
              </a:rPr>
              <a:t>Возможные пути решения проблемы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3.1.32"/>
  <p:tag name="AS_OS" val="Unix 5.15.0.170"/>
  <p:tag name="AS_RELEASE_DATE" val="2025.10.14"/>
  <p:tag name="AS_TITLE" val="Aspose.Slides for Python via .NET"/>
  <p:tag name="AS_VERSION" val="25.1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340</Words>
  <Application>Microsoft Office PowerPoint</Application>
  <PresentationFormat>Произвольный</PresentationFormat>
  <Paragraphs>48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 Regular</vt:lpstr>
      <vt:lpstr>onest Semibold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3BE3DA</cp:lastModifiedBy>
  <cp:revision>6</cp:revision>
  <cp:lastPrinted>2026-04-03T13:21:56Z</cp:lastPrinted>
  <dcterms:created xsi:type="dcterms:W3CDTF">2026-04-03T13:21:56Z</dcterms:created>
  <dcterms:modified xsi:type="dcterms:W3CDTF">2026-04-04T10:05:48Z</dcterms:modified>
</cp:coreProperties>
</file>