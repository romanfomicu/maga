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38"/>
  </p:normalViewPr>
  <p:slideViewPr>
    <p:cSldViewPr snapToGrid="0">
      <p:cViewPr varScale="1">
        <p:scale>
          <a:sx n="79" d="100"/>
          <a:sy n="79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76EEF-BDDB-EDCC-C6BA-3F06F4EB3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9B1C73-301F-9506-F9D9-E45ACD181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AC1B4C-664F-8C90-E6FE-2AAA28F7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C06318-9F99-842D-FA92-77FCFD2B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7064E4-EBD5-52E0-8C9B-FB510717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51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0D7D9-FC44-5605-3B0D-A723EC26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2EFDC2-5E27-14D8-095A-56AB18833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1E7BDF-1BA9-40A1-E894-62613DB77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3116E9-B86A-9F9A-C299-4250E566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7AFCA8-D332-2635-30B3-E124772D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24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BA907-7A22-4FE2-C3E3-A6135D75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A51B65-95AF-0C81-CF0D-11730DA45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C63E3F-B3C2-501F-D8B8-8D10005A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233619-CA33-8A8D-391B-16605A1D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C411DB-D0C0-9A2A-A137-4A1C8C31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94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14EFD-58AE-61D8-B172-24F826CD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96C22C-BAB5-FBDF-0457-C9F7AAF28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0FBB5D-F034-DA8F-FB14-73A9B7C5C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47E389-D4E9-25CC-FFFF-9980558C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61FD88-5BF9-889C-0438-834CFE27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852725-0B48-BC96-05FD-B5A9278A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7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07EE7-1E9C-746F-5120-E4E6B53B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79D0CE-FB2A-FFAF-0BAB-8F3E8E95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662205-2711-8B2D-8C2A-C17554500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EE01D0-50E4-7CF3-EF67-6504CA9F1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97018-1224-EFDF-5986-788A285BB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B4D5C57-7DD2-AD83-1F4D-1F914D13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33F92A-597B-F785-7BBD-9441D314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49C5E6-391D-5F2B-F141-64FA91CD7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41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72FD6-ACFA-3881-2096-9EC8A8C0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76A169-5FD1-EC1F-9B36-313B2F64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4747C4-E6CF-C41D-AEA9-FA09B76F1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26281E-C6A4-9CC3-464A-29E2ED06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8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BE313B0-1939-246E-97C1-4711798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515CD5-02AD-8E64-C6D7-B520CF1C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0F39B9-552F-4455-9305-90385218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117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02633-E72C-B8D9-9EB6-85ECEA96E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EB423-C328-5994-7F15-8D3CE3BEC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8A42A8-6C41-5F99-724C-A565ACDA3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1418A6-BE5A-D2C1-1E21-DDB15B68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8169CB-0C15-AB75-CBDE-3D56F496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D4E7CB-2D6A-1EDF-367B-FFA01AB8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37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207C0-6181-8A37-2610-F266F06D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AC3447-89A3-A0F2-5E63-BBEE1D0D8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461D5E-F10E-E3A7-0C42-CDD6E692D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E4C081-B9C3-D232-330E-41E1E313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901B8E-729D-1DF5-9795-A6EDFE85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1559D5-7C83-9A27-7F20-CE87B04F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90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3178C-B962-4273-ECF4-BC589C0F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2FBA2B-A5AE-BFA8-80DF-6E2F53ABD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58066D-D242-1195-DCBB-109817E6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4E2171-A1FA-3670-7D56-F1750935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C70F92-7C30-A22F-A211-A1625BF3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1723D6B-B7AD-1257-88CA-EB852921B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AFE931-C3BD-46D0-E54A-82B52D851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0405EC-92EB-DA00-03B8-DA52D348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9E9AC0-1A69-0CEA-DA89-C6FC8BCE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841D6E-A65C-1ECC-E09D-6D6313CF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50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DC354-F879-03FE-8FC7-068803E2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D4DC28-4BF6-4C03-7C30-F6E4EF6C6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292065-EE42-7BAE-8605-B9684F890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79E09-8355-E348-924A-A0A7A2A44AA4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AA656F-A37A-E89A-BC4C-71D16FC0D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B714B-45E0-44C5-8F19-B28FB7EE1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25289-B6D1-B945-8FA8-F7BD58A0C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32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4837A-EFF7-0AA6-1B5F-8991F2470E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№1</a:t>
            </a:r>
            <a:r>
              <a:rPr lang="en-US" dirty="0"/>
              <a:t>9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5C8930-6ADE-B33E-F89B-95D866D69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686"/>
            <a:ext cx="9144000" cy="824113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ИКМО-0</a:t>
            </a:r>
            <a:r>
              <a:rPr lang="en-US" dirty="0"/>
              <a:t>3</a:t>
            </a:r>
            <a:r>
              <a:rPr lang="ru-RU" dirty="0"/>
              <a:t>-25</a:t>
            </a:r>
          </a:p>
          <a:p>
            <a:pPr algn="l"/>
            <a:r>
              <a:rPr lang="ru-RU" dirty="0"/>
              <a:t>Фомичев Р.А.</a:t>
            </a:r>
          </a:p>
        </p:txBody>
      </p:sp>
    </p:spTree>
    <p:extLst>
      <p:ext uri="{BB962C8B-B14F-4D97-AF65-F5344CB8AC3E}">
        <p14:creationId xmlns:p14="http://schemas.microsoft.com/office/powerpoint/2010/main" val="2786204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15F1-14B2-6734-1B1D-C4C57415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068BA-A21D-1C32-DFF0-6A9D20B9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477277"/>
          </a:xfrm>
        </p:spPr>
        <p:txBody>
          <a:bodyPr>
            <a:noAutofit/>
          </a:bodyPr>
          <a:lstStyle/>
          <a:p>
            <a:r>
              <a:rPr lang="ru-RU" sz="3200" dirty="0"/>
              <a:t>Цель и логика практической работы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0152B6F-AF1A-2A84-2050-9DB8D5637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42823"/>
              </p:ext>
            </p:extLst>
          </p:nvPr>
        </p:nvGraphicFramePr>
        <p:xfrm>
          <a:off x="838200" y="1645920"/>
          <a:ext cx="10515600" cy="2468880"/>
        </p:xfrm>
        <a:graphic>
          <a:graphicData uri="http://schemas.openxmlformats.org/drawingml/2006/table">
            <a:tbl>
              <a:tblPr/>
              <a:tblGrid>
                <a:gridCol w="3597613">
                  <a:extLst>
                    <a:ext uri="{9D8B030D-6E8A-4147-A177-3AD203B41FA5}">
                      <a16:colId xmlns:a16="http://schemas.microsoft.com/office/drawing/2014/main" val="3241448823"/>
                    </a:ext>
                  </a:extLst>
                </a:gridCol>
                <a:gridCol w="6917987">
                  <a:extLst>
                    <a:ext uri="{9D8B030D-6E8A-4147-A177-3AD203B41FA5}">
                      <a16:colId xmlns:a16="http://schemas.microsoft.com/office/drawing/2014/main" val="3841938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Этап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Содержание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215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1. Количественный анализ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Расчет времени и стоимости функций, ветвей и процессов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19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2. Качественный анализ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Расчет организационной фрагментарности OFRAG по EPC-моделям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9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3. Реинжиниринг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Разработка двух альтернатив изменения процессов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57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4. Сравнение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Оценка альтернатив по времени, стоимости и OFRAG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59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5. Внедрение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Расчет стоимости внедрения и последовательности действий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47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31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4C715-EF17-E006-8365-30E616EE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477277"/>
          </a:xfrm>
        </p:spPr>
        <p:txBody>
          <a:bodyPr>
            <a:noAutofit/>
          </a:bodyPr>
          <a:lstStyle/>
          <a:p>
            <a:r>
              <a:rPr lang="ru-RU" sz="3200" dirty="0"/>
              <a:t>Методика расчета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DBE843B-A362-87E3-33E2-CFD8C3B48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31730"/>
              </p:ext>
            </p:extLst>
          </p:nvPr>
        </p:nvGraphicFramePr>
        <p:xfrm>
          <a:off x="273995" y="2020743"/>
          <a:ext cx="55852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290">
                  <a:extLst>
                    <a:ext uri="{9D8B030D-6E8A-4147-A177-3AD203B41FA5}">
                      <a16:colId xmlns:a16="http://schemas.microsoft.com/office/drawing/2014/main" val="1861230489"/>
                    </a:ext>
                  </a:extLst>
                </a:gridCol>
                <a:gridCol w="3262009">
                  <a:extLst>
                    <a:ext uri="{9D8B030D-6E8A-4147-A177-3AD203B41FA5}">
                      <a16:colId xmlns:a16="http://schemas.microsoft.com/office/drawing/2014/main" val="2965076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Формула / 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78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Стоимость функции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Cᵢ = Rᵢ × tᵢ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92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Время 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</a:t>
                      </a:r>
                      <a:r>
                        <a:rPr lang="ru-RU" dirty="0"/>
                        <a:t>ветви = 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tᵢ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48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Стоимость 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</a:t>
                      </a:r>
                      <a:r>
                        <a:rPr lang="ru-RU" dirty="0"/>
                        <a:t>ветви = 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Cᵢ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68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Среднее время процесса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E(T) = 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pⱼ × Tⱼ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544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Средняя стоимость процесса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E(C) = 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pⱼ × Cⱼ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606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 / 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Минимальная и максимальная ветвь процесса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27722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B39E553-B3BD-70F3-2112-658F6F89C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21335"/>
              </p:ext>
            </p:extLst>
          </p:nvPr>
        </p:nvGraphicFramePr>
        <p:xfrm>
          <a:off x="6096000" y="2020743"/>
          <a:ext cx="59624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944">
                  <a:extLst>
                    <a:ext uri="{9D8B030D-6E8A-4147-A177-3AD203B41FA5}">
                      <a16:colId xmlns:a16="http://schemas.microsoft.com/office/drawing/2014/main" val="846605028"/>
                    </a:ext>
                  </a:extLst>
                </a:gridCol>
                <a:gridCol w="4505528">
                  <a:extLst>
                    <a:ext uri="{9D8B030D-6E8A-4147-A177-3AD203B41FA5}">
                      <a16:colId xmlns:a16="http://schemas.microsoft.com/office/drawing/2014/main" val="224756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Организационная фрагментарность процесса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65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Формула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OFRAG = OBR / FTR × 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084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Количество организационных разрывов между ролями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40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Количество функциональных переходов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222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Итог </a:t>
                      </a:r>
                      <a:r>
                        <a:rPr lang="en-US"/>
                        <a:t>OFRAG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Взвешивается по вероятностям ветвей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4407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58F3B6-9E19-55E0-B8B3-2A1F767D4199}"/>
              </a:ext>
            </a:extLst>
          </p:cNvPr>
          <p:cNvSpPr txBox="1"/>
          <p:nvPr/>
        </p:nvSpPr>
        <p:spPr>
          <a:xfrm>
            <a:off x="273995" y="1464172"/>
            <a:ext cx="4113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Количественный анализ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AE97-F5E1-1312-4A06-9FE2096A4717}"/>
              </a:ext>
            </a:extLst>
          </p:cNvPr>
          <p:cNvSpPr txBox="1"/>
          <p:nvPr/>
        </p:nvSpPr>
        <p:spPr>
          <a:xfrm>
            <a:off x="6096000" y="1464172"/>
            <a:ext cx="4113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Качественный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174359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24846-5C34-B1D6-C3D0-1CA7E5A9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B28C8-A277-22AF-D777-566EF4B1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477277"/>
          </a:xfrm>
        </p:spPr>
        <p:txBody>
          <a:bodyPr>
            <a:noAutofit/>
          </a:bodyPr>
          <a:lstStyle/>
          <a:p>
            <a:r>
              <a:rPr lang="ru-RU" sz="3200" dirty="0"/>
              <a:t>Исходные расчетные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BADF87-2141-5CC2-0384-D97E4E96C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3498"/>
            <a:ext cx="10515600" cy="3932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Расчет ставок выполнен по формуле: зарплата / 21 рабочий день / 8 часов.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883C26C-DD94-DDBC-A3C1-368B36EBE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047131"/>
              </p:ext>
            </p:extLst>
          </p:nvPr>
        </p:nvGraphicFramePr>
        <p:xfrm>
          <a:off x="914400" y="1299235"/>
          <a:ext cx="10690700" cy="52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675">
                  <a:extLst>
                    <a:ext uri="{9D8B030D-6E8A-4147-A177-3AD203B41FA5}">
                      <a16:colId xmlns:a16="http://schemas.microsoft.com/office/drawing/2014/main" val="3697429819"/>
                    </a:ext>
                  </a:extLst>
                </a:gridCol>
                <a:gridCol w="2672675">
                  <a:extLst>
                    <a:ext uri="{9D8B030D-6E8A-4147-A177-3AD203B41FA5}">
                      <a16:colId xmlns:a16="http://schemas.microsoft.com/office/drawing/2014/main" val="823793198"/>
                    </a:ext>
                  </a:extLst>
                </a:gridCol>
                <a:gridCol w="2672675">
                  <a:extLst>
                    <a:ext uri="{9D8B030D-6E8A-4147-A177-3AD203B41FA5}">
                      <a16:colId xmlns:a16="http://schemas.microsoft.com/office/drawing/2014/main" val="4058804561"/>
                    </a:ext>
                  </a:extLst>
                </a:gridCol>
                <a:gridCol w="2672675">
                  <a:extLst>
                    <a:ext uri="{9D8B030D-6E8A-4147-A177-3AD203B41FA5}">
                      <a16:colId xmlns:a16="http://schemas.microsoft.com/office/drawing/2014/main" val="432268611"/>
                    </a:ext>
                  </a:extLst>
                </a:gridCol>
              </a:tblGrid>
              <a:tr h="253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Участник / роль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Зарплата, ₽/мес.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Ставка, ₽/ч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Где используется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440978100"/>
                  </a:ext>
                </a:extLst>
              </a:tr>
              <a:tr h="633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Заказчик / представитель бизнеса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120 000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714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Инициация запроса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33060630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Менеджер продукта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180 000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1 071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Анализ запроса, приоритизация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749230358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Аналитик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170 000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1 012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Требования, ТЗ, тестирование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494855190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Архитектор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252 000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1 500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Технический анализ, архитектура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293560990"/>
                  </a:ext>
                </a:extLst>
              </a:tr>
              <a:tr h="633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Технический руководитель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243 600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1 450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Согласование, управление разработкой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847183024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Разработчик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220 000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1 310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Реализация и исправления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433279012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QA-</a:t>
                      </a:r>
                      <a:r>
                        <a:rPr lang="ru-RU" sz="1400"/>
                        <a:t>инженер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170 000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1 012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Тестирование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603224947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DevOps-</a:t>
                      </a:r>
                      <a:r>
                        <a:rPr lang="ru-RU" sz="1400"/>
                        <a:t>инженер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235 200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1 400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Релиз, окружение, развертывание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381738833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Системный администратор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160 000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952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Инфраструктура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746401009"/>
                  </a:ext>
                </a:extLst>
              </a:tr>
              <a:tr h="443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Единый продуктовый офис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190 000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1 131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Альтернатива 1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636006028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Продуктовая команда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205 000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1 220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Альтернатива 2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267433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80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C075-8597-E4A1-7EF0-AB5F0571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2B2DF-507B-464B-5E5A-265A5823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477277"/>
          </a:xfrm>
        </p:spPr>
        <p:txBody>
          <a:bodyPr>
            <a:noAutofit/>
          </a:bodyPr>
          <a:lstStyle/>
          <a:p>
            <a:r>
              <a:rPr lang="ru-RU" sz="3200" dirty="0"/>
              <a:t>AS-IS: исходные процессы из практики №18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23673F-0916-3573-A47E-567707BBB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1150"/>
            <a:ext cx="10515600" cy="623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Главная проблема AS-IS: процессы проходят через несколько ролей последовательно, из-за чего возникают возвраты, повторные согласования, задержки и организационные разрывы.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16C6E89-228C-1991-FCAF-3EC1092F9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27276"/>
              </p:ext>
            </p:extLst>
          </p:nvPr>
        </p:nvGraphicFramePr>
        <p:xfrm>
          <a:off x="838200" y="826850"/>
          <a:ext cx="10603150" cy="494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251">
                  <a:extLst>
                    <a:ext uri="{9D8B030D-6E8A-4147-A177-3AD203B41FA5}">
                      <a16:colId xmlns:a16="http://schemas.microsoft.com/office/drawing/2014/main" val="3894211051"/>
                    </a:ext>
                  </a:extLst>
                </a:gridCol>
                <a:gridCol w="3094909">
                  <a:extLst>
                    <a:ext uri="{9D8B030D-6E8A-4147-A177-3AD203B41FA5}">
                      <a16:colId xmlns:a16="http://schemas.microsoft.com/office/drawing/2014/main" val="3479371451"/>
                    </a:ext>
                  </a:extLst>
                </a:gridCol>
                <a:gridCol w="3332980">
                  <a:extLst>
                    <a:ext uri="{9D8B030D-6E8A-4147-A177-3AD203B41FA5}">
                      <a16:colId xmlns:a16="http://schemas.microsoft.com/office/drawing/2014/main" val="4166510754"/>
                    </a:ext>
                  </a:extLst>
                </a:gridCol>
                <a:gridCol w="3756010">
                  <a:extLst>
                    <a:ext uri="{9D8B030D-6E8A-4147-A177-3AD203B41FA5}">
                      <a16:colId xmlns:a16="http://schemas.microsoft.com/office/drawing/2014/main" val="9851596"/>
                    </a:ext>
                  </a:extLst>
                </a:gridCol>
              </a:tblGrid>
              <a:tr h="366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/>
                        <a:t>№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Процесс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Результат процесса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Основные участники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833916970"/>
                  </a:ext>
                </a:extLst>
              </a:tr>
              <a:tr h="1435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/>
                        <a:t>1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Спроектировать новый функционал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Утвержденные требования и техническая концепция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Заказчик, менеджер продукта, аналитик, архитектор, технический руководитель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676036911"/>
                  </a:ext>
                </a:extLst>
              </a:tr>
              <a:tr h="1435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/>
                        <a:t>2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Разработать и протестировать программный модуль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Готовый к внедрению программный модуль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Руководитель разработки, разработчик, ведущий разработчик, QA-инженер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747015764"/>
                  </a:ext>
                </a:extLst>
              </a:tr>
              <a:tr h="17045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600" dirty="0"/>
                        <a:t>3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Внедрить программный модуль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Внедренный программный модуль и уведомление заказчика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Руководитель разработки, </a:t>
                      </a:r>
                      <a:r>
                        <a:rPr lang="ru-RU" sz="1600" dirty="0" err="1"/>
                        <a:t>DevOps</a:t>
                      </a:r>
                      <a:r>
                        <a:rPr lang="ru-RU" sz="1600" dirty="0"/>
                        <a:t>-инженер, системный администратор, QA-инженер, менеджер проекта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27108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37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8F74-0AF0-F2FC-4515-79D3EBE4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8A46C1-58FF-68C3-8FB1-A46BFB36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AS-IS: процесс 1 — «Спроектировать новый функционал»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44B2DE8F-2B2A-650D-F69B-5412E50A6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515237"/>
              </p:ext>
            </p:extLst>
          </p:nvPr>
        </p:nvGraphicFramePr>
        <p:xfrm>
          <a:off x="838200" y="982312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Среднее время </a:t>
                      </a:r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E(T)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 / Max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Средняя стоимость </a:t>
                      </a:r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E(C)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 / Max </a:t>
                      </a:r>
                      <a:r>
                        <a:rPr lang="ru-RU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стоимости</a:t>
                      </a:r>
                      <a:endParaRPr lang="ru-RU" sz="105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OFRAG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7,19 ч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6,55 ч / 8,85 ч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9 025 ₽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8 146 ₽ / 11 206 ₽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5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64,80%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DC834534-B45E-AF7E-F6D2-2AE82BF0A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54909"/>
              </p:ext>
            </p:extLst>
          </p:nvPr>
        </p:nvGraphicFramePr>
        <p:xfrm>
          <a:off x="838200" y="1682704"/>
          <a:ext cx="10494525" cy="346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417">
                  <a:extLst>
                    <a:ext uri="{9D8B030D-6E8A-4147-A177-3AD203B41FA5}">
                      <a16:colId xmlns:a16="http://schemas.microsoft.com/office/drawing/2014/main" val="1393264669"/>
                    </a:ext>
                  </a:extLst>
                </a:gridCol>
                <a:gridCol w="3236393">
                  <a:extLst>
                    <a:ext uri="{9D8B030D-6E8A-4147-A177-3AD203B41FA5}">
                      <a16:colId xmlns:a16="http://schemas.microsoft.com/office/drawing/2014/main" val="201524979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269825388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26659162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707046341"/>
                    </a:ext>
                  </a:extLst>
                </a:gridCol>
              </a:tblGrid>
              <a:tr h="14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Код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Функция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Исполнитель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111691437"/>
                  </a:ext>
                </a:extLst>
              </a:tr>
              <a:tr h="25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Сформировать запрос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Заказчик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0,25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179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376591581"/>
                  </a:ext>
                </a:extLst>
              </a:tr>
              <a:tr h="25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Передать запрос на рассмотрение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Заказчик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0,10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71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473945500"/>
                  </a:ext>
                </a:extLst>
              </a:tr>
              <a:tr h="25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Проанализировать запрос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Менеджер продукта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536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166421793"/>
                  </a:ext>
                </a:extLst>
              </a:tr>
              <a:tr h="35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Собрать и уточнить требования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Аналитик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1 012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312258521"/>
                  </a:ext>
                </a:extLst>
              </a:tr>
              <a:tr h="35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Подготовить бизнес-требования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Аналитик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1,20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1 214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967402909"/>
                  </a:ext>
                </a:extLst>
              </a:tr>
              <a:tr h="465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Провести технический анализ требований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Архитектор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1,50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2 250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695433870"/>
                  </a:ext>
                </a:extLst>
              </a:tr>
              <a:tr h="35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F7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Доработать неполные требования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Аналитик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810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17200273"/>
                  </a:ext>
                </a:extLst>
              </a:tr>
              <a:tr h="35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Определить архитектуру решения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Архитектор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1,20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1 800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289100263"/>
                  </a:ext>
                </a:extLst>
              </a:tr>
              <a:tr h="25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Согласовать архитектуру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Технический руководитель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870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59628514"/>
                  </a:ext>
                </a:extLst>
              </a:tr>
              <a:tr h="35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Передать требования в разработку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Менеджер продукта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0,20 ч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214 ₽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818259719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2B447BB-89E9-88D0-0F62-8522F9D6C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471873"/>
              </p:ext>
            </p:extLst>
          </p:nvPr>
        </p:nvGraphicFramePr>
        <p:xfrm>
          <a:off x="859275" y="5416463"/>
          <a:ext cx="10473452" cy="1208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5314">
                  <a:extLst>
                    <a:ext uri="{9D8B030D-6E8A-4147-A177-3AD203B41FA5}">
                      <a16:colId xmlns:a16="http://schemas.microsoft.com/office/drawing/2014/main" val="1374551777"/>
                    </a:ext>
                  </a:extLst>
                </a:gridCol>
                <a:gridCol w="1307970">
                  <a:extLst>
                    <a:ext uri="{9D8B030D-6E8A-4147-A177-3AD203B41FA5}">
                      <a16:colId xmlns:a16="http://schemas.microsoft.com/office/drawing/2014/main" val="1864620873"/>
                    </a:ext>
                  </a:extLst>
                </a:gridCol>
                <a:gridCol w="1482366">
                  <a:extLst>
                    <a:ext uri="{9D8B030D-6E8A-4147-A177-3AD203B41FA5}">
                      <a16:colId xmlns:a16="http://schemas.microsoft.com/office/drawing/2014/main" val="3702232218"/>
                    </a:ext>
                  </a:extLst>
                </a:gridCol>
                <a:gridCol w="1240150">
                  <a:extLst>
                    <a:ext uri="{9D8B030D-6E8A-4147-A177-3AD203B41FA5}">
                      <a16:colId xmlns:a16="http://schemas.microsoft.com/office/drawing/2014/main" val="155739400"/>
                    </a:ext>
                  </a:extLst>
                </a:gridCol>
                <a:gridCol w="978555">
                  <a:extLst>
                    <a:ext uri="{9D8B030D-6E8A-4147-A177-3AD203B41FA5}">
                      <a16:colId xmlns:a16="http://schemas.microsoft.com/office/drawing/2014/main" val="2959282679"/>
                    </a:ext>
                  </a:extLst>
                </a:gridCol>
                <a:gridCol w="1007622">
                  <a:extLst>
                    <a:ext uri="{9D8B030D-6E8A-4147-A177-3AD203B41FA5}">
                      <a16:colId xmlns:a16="http://schemas.microsoft.com/office/drawing/2014/main" val="1379177179"/>
                    </a:ext>
                  </a:extLst>
                </a:gridCol>
                <a:gridCol w="991475">
                  <a:extLst>
                    <a:ext uri="{9D8B030D-6E8A-4147-A177-3AD203B41FA5}">
                      <a16:colId xmlns:a16="http://schemas.microsoft.com/office/drawing/2014/main" val="2631393653"/>
                    </a:ext>
                  </a:extLst>
                </a:gridCol>
              </a:tblGrid>
              <a:tr h="199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124405"/>
                  </a:ext>
                </a:extLst>
              </a:tr>
              <a:tr h="296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Требования полные, архитектура согласована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6,55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8 146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62,5%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410222"/>
                  </a:ext>
                </a:extLst>
              </a:tr>
              <a:tr h="296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Требования неполные, нужна доработка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8,85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11 206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647333"/>
                  </a:ext>
                </a:extLst>
              </a:tr>
              <a:tr h="364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Архитектура не согласована с первого раза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8,35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10 816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70,0%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97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20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7FCDB-DD4E-C6BC-9CFD-DD9E7013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1688C-324F-86EE-34AB-AB6E53EA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934376"/>
          </a:xfrm>
        </p:spPr>
        <p:txBody>
          <a:bodyPr>
            <a:noAutofit/>
          </a:bodyPr>
          <a:lstStyle/>
          <a:p>
            <a:r>
              <a:rPr lang="ru-RU" sz="3200" dirty="0"/>
              <a:t>AS-IS: процесс 2 — «Разработать и протестировать программный модуль»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668446A-C7DA-BBC6-8553-7D5F9B390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50807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15,70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13,60 ч / 20,60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20 393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17 809 ₽ / 26 421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50,10%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6BF9CD9-E7C7-1B25-6C6E-457D86983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69786"/>
              </p:ext>
            </p:extLst>
          </p:nvPr>
        </p:nvGraphicFramePr>
        <p:xfrm>
          <a:off x="848736" y="1825625"/>
          <a:ext cx="10494525" cy="2965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055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431755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Код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Изучить требования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Руководитель разработки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725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F2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Декомпозировать функционал на задачи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Руководитель разработки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1 450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Распределить задачи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Руководитель разработки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435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Разработать программный код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Разработчик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10 480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Проверить код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Ведущий разработчик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1 450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Исправить замечания по ревью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Разработчик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2 620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F7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Принять изменения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Ведущий разработчик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435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853667029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F8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Подготовить тестовые сценарии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QA-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810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840659230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F9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Выполнить тестирование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QA-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2 024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691415990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F10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Исправить дефекты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Разработчик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3 930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070484551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F11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Провести повторное тестирование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QA-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1 012 ₽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135418372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D2C0740-B17B-49CE-A659-58E575330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93124"/>
              </p:ext>
            </p:extLst>
          </p:nvPr>
        </p:nvGraphicFramePr>
        <p:xfrm>
          <a:off x="848736" y="5001467"/>
          <a:ext cx="10494526" cy="1436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58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50587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605064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459149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157243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499218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Ветвь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 принят, дефекты не обнаружены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50%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13,60 ч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17 809 ₽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42,9%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Есть замечания по ревью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20%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16,60 ч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21 479 ₽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55,6%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Есть дефекты на тестировании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20%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17,60 ч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22 751 ₽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55,6%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25188120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Есть замечания по ревью и дефекты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10%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20,60 ч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26 421 ₽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11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63,6%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1947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240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87A2-6D73-B015-5C97-DE8FDB2D5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E46D2-E390-6DDE-611B-7522877C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AS-IS: процесс 3 — «Внедрить программный модуль»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B8FBF96-4CCC-6116-C5C8-1B8CE0BC7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44470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6,30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6,00 ч / 7,50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7 633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7 320 ₽ / 8 748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73,80%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5FCAD4B-55D3-763E-4A16-7F1254A89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158797"/>
              </p:ext>
            </p:extLst>
          </p:nvPr>
        </p:nvGraphicFramePr>
        <p:xfrm>
          <a:off x="848736" y="1825625"/>
          <a:ext cx="10494525" cy="3251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441482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Сформировать состав релиза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Руководитель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725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Передать релиз </a:t>
                      </a:r>
                      <a:r>
                        <a:rPr lang="en-US" sz="1050"/>
                        <a:t>DevOps-</a:t>
                      </a:r>
                      <a:r>
                        <a:rPr lang="ru-RU" sz="1050"/>
                        <a:t>инженеру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Руководитель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290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Подготовить план внедрения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DevOps-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1 120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Проверить готовность инфраструктуры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Системный 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0,70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666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Устранить инфраструктурные ограничения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Системный 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1 428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Подготовить окружение и конфигурации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DevOps-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1 400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Выполнить развертывание релиза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DevOps-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1 120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667029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Провести техническую проверку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Системный 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0,70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666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659230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Провести </a:t>
                      </a:r>
                      <a:r>
                        <a:rPr lang="en-US" sz="1050"/>
                        <a:t>smoke-</a:t>
                      </a:r>
                      <a:r>
                        <a:rPr lang="ru-RU" sz="105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QA-</a:t>
                      </a:r>
                      <a:r>
                        <a:rPr lang="ru-RU" sz="105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1 012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415990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Вернуть задачу в разработку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Разработчик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1 310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484551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Уведомить заказчика о внедрении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Менеджер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321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418372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98D19EF-0982-2839-2399-C128E16AF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86213"/>
              </p:ext>
            </p:extLst>
          </p:nvPr>
        </p:nvGraphicFramePr>
        <p:xfrm>
          <a:off x="848736" y="5217446"/>
          <a:ext cx="10494526" cy="1441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>
                          <a:latin typeface="+mn-lt"/>
                        </a:rPr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 dirty="0">
                          <a:latin typeface="+mn-lt"/>
                        </a:rPr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T</a:t>
                      </a:r>
                      <a:r>
                        <a:rPr lang="ru-RU" sz="1050">
                          <a:latin typeface="+mn-lt"/>
                        </a:rPr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 dirty="0">
                          <a:latin typeface="+mn-lt"/>
                        </a:rPr>
                        <a:t>C</a:t>
                      </a:r>
                      <a:r>
                        <a:rPr lang="ru-RU" sz="1050" dirty="0">
                          <a:latin typeface="+mn-lt"/>
                        </a:rPr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 dirty="0">
                          <a:latin typeface="+mn-lt"/>
                        </a:rPr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 dirty="0">
                          <a:latin typeface="+mn-lt"/>
                        </a:rPr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>
                          <a:latin typeface="+mn-lt"/>
                        </a:rPr>
                        <a:t>Инфраструктура готова, ошибок 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6,00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7 320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75,0%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>
                          <a:latin typeface="+mn-lt"/>
                        </a:rPr>
                        <a:t>Требуется устранение инфраструктурных ограничений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7,50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8 748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66,7%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>
                          <a:latin typeface="+mn-lt"/>
                        </a:rPr>
                        <a:t>Обнаружены критические ошибки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6,70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8 309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>
                          <a:latin typeface="+mn-lt"/>
                        </a:rPr>
                        <a:t>75,0%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88120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>
                          <a:latin typeface="+mn-lt"/>
                        </a:rPr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T</a:t>
                      </a:r>
                      <a:r>
                        <a:rPr lang="ru-RU" sz="1050">
                          <a:latin typeface="+mn-lt"/>
                        </a:rPr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C</a:t>
                      </a:r>
                      <a:r>
                        <a:rPr lang="ru-RU" sz="1050">
                          <a:latin typeface="+mn-lt"/>
                        </a:rPr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>
                          <a:latin typeface="+mn-lt"/>
                        </a:rPr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 dirty="0">
                          <a:latin typeface="+mn-lt"/>
                        </a:rPr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7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67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63BD-B35E-5C2F-6185-E5E95CFD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89FC1-E18E-2C4A-CD67-C7C7D396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Итог </a:t>
            </a:r>
            <a:r>
              <a:rPr lang="en-US" sz="3200" dirty="0"/>
              <a:t>AS-IS </a:t>
            </a:r>
            <a:r>
              <a:rPr lang="ru-RU" sz="3200" dirty="0"/>
              <a:t>анализа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B60D318-E469-FE5C-C199-005170527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67051"/>
              </p:ext>
            </p:extLst>
          </p:nvPr>
        </p:nvGraphicFramePr>
        <p:xfrm>
          <a:off x="838200" y="1068375"/>
          <a:ext cx="10689075" cy="4537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9204">
                  <a:extLst>
                    <a:ext uri="{9D8B030D-6E8A-4147-A177-3AD203B41FA5}">
                      <a16:colId xmlns:a16="http://schemas.microsoft.com/office/drawing/2014/main" val="1281832036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2079536081"/>
                    </a:ext>
                  </a:extLst>
                </a:gridCol>
                <a:gridCol w="1235413">
                  <a:extLst>
                    <a:ext uri="{9D8B030D-6E8A-4147-A177-3AD203B41FA5}">
                      <a16:colId xmlns:a16="http://schemas.microsoft.com/office/drawing/2014/main" val="1736548737"/>
                    </a:ext>
                  </a:extLst>
                </a:gridCol>
                <a:gridCol w="1206230">
                  <a:extLst>
                    <a:ext uri="{9D8B030D-6E8A-4147-A177-3AD203B41FA5}">
                      <a16:colId xmlns:a16="http://schemas.microsoft.com/office/drawing/2014/main" val="3919869556"/>
                    </a:ext>
                  </a:extLst>
                </a:gridCol>
                <a:gridCol w="4717913">
                  <a:extLst>
                    <a:ext uri="{9D8B030D-6E8A-4147-A177-3AD203B41FA5}">
                      <a16:colId xmlns:a16="http://schemas.microsoft.com/office/drawing/2014/main" val="1764603042"/>
                    </a:ext>
                  </a:extLst>
                </a:gridCol>
              </a:tblGrid>
              <a:tr h="202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Процесс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E(T)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E(C)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dirty="0"/>
                        <a:t>OFRAG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Основной вывод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3906442448"/>
                  </a:ext>
                </a:extLst>
              </a:tr>
              <a:tr h="1113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Спроектировать новый функционал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 dirty="0"/>
                        <a:t>7,19 ч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 dirty="0"/>
                        <a:t>9 025 ₽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64,8%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Много согласований между заказчиком, продуктом, аналитиком и архитектурой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444480160"/>
                  </a:ext>
                </a:extLst>
              </a:tr>
              <a:tr h="809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Разработать и протестировать модуль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15,70 ч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20 393 ₽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50,1%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Основные задержки возникают из-за ревью, дефектов и возвратов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738701759"/>
                  </a:ext>
                </a:extLst>
              </a:tr>
              <a:tr h="1264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Внедрить программный модуль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6,30 ч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7 633 ₽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73,8%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Высокая фрагментарность из-за передачи релиза между DevOps, администратором, QA и разработкой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536645614"/>
                  </a:ext>
                </a:extLst>
              </a:tr>
              <a:tr h="961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/>
                        <a:t>Итого</a:t>
                      </a:r>
                      <a:endParaRPr lang="ru-RU" sz="18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 b="1"/>
                        <a:t>29,19 ч</a:t>
                      </a:r>
                      <a:endParaRPr lang="ru-RU" sz="18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 b="1"/>
                        <a:t>37 051 ₽</a:t>
                      </a:r>
                      <a:endParaRPr lang="ru-RU" sz="18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 b="1"/>
                        <a:t>62,9%</a:t>
                      </a:r>
                      <a:endParaRPr lang="ru-RU" sz="180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Требуется сокращение передач между ролями и автоматизация проверок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42103018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5A451E9-4C91-2F15-A98F-3A48762CEF35}"/>
              </a:ext>
            </a:extLst>
          </p:cNvPr>
          <p:cNvSpPr txBox="1"/>
          <p:nvPr/>
        </p:nvSpPr>
        <p:spPr>
          <a:xfrm>
            <a:off x="838200" y="5789625"/>
            <a:ext cx="10611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Направление улучшения: стандартизировать входные данные, объединить ответственность за результат, внедрить автоматические проверки, сократить ручные согласования и возвраты.</a:t>
            </a:r>
          </a:p>
        </p:txBody>
      </p:sp>
    </p:spTree>
    <p:extLst>
      <p:ext uri="{BB962C8B-B14F-4D97-AF65-F5344CB8AC3E}">
        <p14:creationId xmlns:p14="http://schemas.microsoft.com/office/powerpoint/2010/main" val="362188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327B-AA5E-BDCA-FBD7-A26B2027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1920B-4949-D3F1-9B59-79891F4D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1: стандартизация и единый контур управления изменениями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639EA-719B-7620-921D-0E75A773635E}"/>
              </a:ext>
            </a:extLst>
          </p:cNvPr>
          <p:cNvSpPr txBox="1"/>
          <p:nvPr/>
        </p:nvSpPr>
        <p:spPr>
          <a:xfrm>
            <a:off x="838199" y="1274721"/>
            <a:ext cx="10834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Альтернатива 1 предполагает постепенное улучшение процессов без полной перестройки организационной модели.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1627AC9-C319-538D-BCB2-8D135049E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50109"/>
              </p:ext>
            </p:extLst>
          </p:nvPr>
        </p:nvGraphicFramePr>
        <p:xfrm>
          <a:off x="883460" y="1921052"/>
          <a:ext cx="10425080" cy="347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540">
                  <a:extLst>
                    <a:ext uri="{9D8B030D-6E8A-4147-A177-3AD203B41FA5}">
                      <a16:colId xmlns:a16="http://schemas.microsoft.com/office/drawing/2014/main" val="1216102267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693208155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Блок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Содержание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59302977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Процессные изменения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Используются шаблоны требований, матрица приоритетов, чек-листы разработки, тестирования и релиза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59387400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Информационные изменения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Вводятся типовые карточки задач, база требований, автоматические проверки кода и релизные чек-листы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65609952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Ожидаемый результат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Снижение времени и стоимости за счет стандартизации и уменьшения возвратов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59681468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Риск внедрения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Низкий / средний, так как структура ролей сохраняется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169043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18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2BB5-FB0C-263E-447F-86D0E9AE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6AAD1-61A4-7F27-CD98-294850DC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EPC-модель: Альтернатива 1 — процесс «Спроектировать новый функционал»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75562-CF02-A9DE-A157-7E5719DBD5E4}"/>
              </a:ext>
            </a:extLst>
          </p:cNvPr>
          <p:cNvSpPr txBox="1"/>
          <p:nvPr/>
        </p:nvSpPr>
        <p:spPr>
          <a:xfrm>
            <a:off x="6507804" y="2274838"/>
            <a:ext cx="53793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было изменено в </a:t>
            </a:r>
            <a:r>
              <a:rPr lang="en-US" dirty="0" err="1"/>
              <a:t>epc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Запрос на новый функционал оформляется не в свободной форме, а через единую карточку изменения. Проверка полноты требований добавляется до подготовки бизнес-требований. Согласование архитектуры выполняется по чек-листу, поэтому сокращается количество возвратов между архитектором и техническим руководителем.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862F09F-DF1D-525A-C58A-C3697AA6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181" y="1070043"/>
            <a:ext cx="4369016" cy="579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68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6250-5F52-0CDF-7625-94D988D3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CDC79-4FA8-FC6E-EDAD-A0A40AA9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1: процесс 1 — TO-BE расчет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8674D49F-3D1E-4729-2126-8FF08D40A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46952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3,38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3,15 ч / 4,35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4 428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4 116 ₽ / 5 768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36,70%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EB93F5A-18FD-E445-109A-6035E9645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98509"/>
              </p:ext>
            </p:extLst>
          </p:nvPr>
        </p:nvGraphicFramePr>
        <p:xfrm>
          <a:off x="848736" y="1825625"/>
          <a:ext cx="10494525" cy="2438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441482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Зарегистрировать запрос в единой карточке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Заказчик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Проверить полноту карточки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Менеджер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452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Сформировать бизнес-требования по шаблону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Аналитик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905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Провести техническую оценку по чек-листу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Архитектор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1 200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Доработать карточку при неполноте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Аналитик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452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Подготовить типовую архитектурную концепцию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Архитектор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0,70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1 050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Согласовать концепцию по регламенту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Менеджер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226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667029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Передать пакет требований в разработку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Менеджер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0,10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113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659230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8CDE390-5BC2-7DD1-E41E-BAA8188F4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21138"/>
              </p:ext>
            </p:extLst>
          </p:nvPr>
        </p:nvGraphicFramePr>
        <p:xfrm>
          <a:off x="848736" y="4526782"/>
          <a:ext cx="10494526" cy="136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Карточка полная, решение согласовано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3,15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4 116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33,3%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Карточка запроса требует уточнения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4,35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5 768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Карточка требований требует уточнения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4,35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5 768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50,0 %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805483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Архитектура требует повторного согласования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4,05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5 392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88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42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A6E6-D521-DB1A-6992-23FCA742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47F50-7D42-7B2F-B5BE-6EDBE3C5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EPC-модель: Альтернатива 1 — процесс «Разработать и протестировать программный модуль»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77365-3E1C-A753-5E3E-1781CE2E741D}"/>
              </a:ext>
            </a:extLst>
          </p:cNvPr>
          <p:cNvSpPr txBox="1"/>
          <p:nvPr/>
        </p:nvSpPr>
        <p:spPr>
          <a:xfrm>
            <a:off x="6507804" y="2274838"/>
            <a:ext cx="53793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было изменено в </a:t>
            </a:r>
            <a:r>
              <a:rPr lang="en-US" dirty="0" err="1"/>
              <a:t>epc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Разработка и тестирование стандартизируются: задачи декомпозируются по шаблону, код проходит автоматическую проверку до ревью, а тестирование выполняется по типовым сценариям. Возвраты после ревью и тестирования сохраняются, но становятся короче, потому что дефекты и замечания фиксируются в карточке задачи.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2E06E2-C033-C354-AF71-C977049F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64" y="1074476"/>
            <a:ext cx="3242741" cy="557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1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384DB-765C-D3AC-8FAE-045A03CB6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C33B4-F5C7-EB93-6D10-006A44A3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1: процесс 2 — TO-BE расчет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BC56C962-7873-6725-4CBA-810331F04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014838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10,58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9,80 ч / 13,80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13 225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12 250 ₽ / 17 250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16EF8AB-6972-FAC8-A661-65C152ACA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41595"/>
              </p:ext>
            </p:extLst>
          </p:nvPr>
        </p:nvGraphicFramePr>
        <p:xfrm>
          <a:off x="848736" y="1825625"/>
          <a:ext cx="10494525" cy="2791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142034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947481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1549777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Изучить 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Руководитель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Декомпозировать функционал на типовые задачи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Руководитель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Разработать программный 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8 125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Запустить автоматические проверки кода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625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Провести </a:t>
                      </a:r>
                      <a:r>
                        <a:rPr lang="ru-RU" sz="1050" dirty="0" err="1"/>
                        <a:t>code</a:t>
                      </a:r>
                      <a:r>
                        <a:rPr lang="ru-RU" sz="1050" dirty="0"/>
                        <a:t> </a:t>
                      </a:r>
                      <a:r>
                        <a:rPr lang="ru-RU" sz="1050" dirty="0" err="1"/>
                        <a:t>review</a:t>
                      </a:r>
                      <a:r>
                        <a:rPr lang="ru-RU" sz="1050" dirty="0"/>
                        <a:t> по чек-листу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Ведущий разработчик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59731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Исправить замечания ревью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1 500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Подготовить и запустить тесты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QA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1 500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Исправить дефекты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Разработчик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2 000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667029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Повторно провести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QA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750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659230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0109430-7D98-D0B9-5126-5F4344917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80932"/>
              </p:ext>
            </p:extLst>
          </p:nvPr>
        </p:nvGraphicFramePr>
        <p:xfrm>
          <a:off x="838200" y="4872376"/>
          <a:ext cx="10494526" cy="1441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 принят, дефекты не обнаружены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12 250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Есть замечания по ревью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11,60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14 500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Есть дефекты на тестировании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12,00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15 000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88120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Есть замечания и дефекты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13,80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17 250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7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088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D411-ED84-6BC3-86AE-0FA5C066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DFE0B-E0D2-5DCE-94DB-E5D9D23A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EPC-модель: Альтернатива 1 — процесс «Внедрить программный модуль»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C8D12-85FA-8004-DE41-2D029CC3FB84}"/>
              </a:ext>
            </a:extLst>
          </p:cNvPr>
          <p:cNvSpPr txBox="1"/>
          <p:nvPr/>
        </p:nvSpPr>
        <p:spPr>
          <a:xfrm>
            <a:off x="6507804" y="2274838"/>
            <a:ext cx="53793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было изменено в </a:t>
            </a:r>
            <a:r>
              <a:rPr lang="en-US" dirty="0" err="1"/>
              <a:t>epc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Внедрение переводится на релизный чек-лист. План релиза, проверка инфраструктуры, подготовка окружения и </a:t>
            </a:r>
            <a:r>
              <a:rPr lang="ru-RU" dirty="0" err="1"/>
              <a:t>smoke</a:t>
            </a:r>
            <a:r>
              <a:rPr lang="ru-RU" dirty="0"/>
              <a:t>-тестирование выполняются в едином релизном контуре.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89AAF6-1371-8111-8FC7-DEECBDF5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26" y="1225685"/>
            <a:ext cx="2741598" cy="555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69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D8B5-326A-103D-A38C-0DF6177F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34612-33C5-1497-83EF-046507A8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1: процесс 3 — TO-BE расчет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5B3855A-F0FC-849A-84B0-77A503A72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516818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3,24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3,10 ч / 3,90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4 055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3 875 ₽ / 4 875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0,00%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0BCEEA4-E29B-5C74-4195-B72EAA4E7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251783"/>
              </p:ext>
            </p:extLst>
          </p:nvPr>
        </p:nvGraphicFramePr>
        <p:xfrm>
          <a:off x="848736" y="1825625"/>
          <a:ext cx="10494525" cy="269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142034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947481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1549777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Сформировать релиз по шаблону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Руководитель разработки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375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Подготовить план внедрения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DevOps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625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Проверить инфраструктуру автоматически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Системный 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Устранить инфраструктурные ограничения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Системный администратор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1 000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Подготовить окружение и конфигурации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DevOps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59731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Выполнить развертывание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DevOps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625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Провести </a:t>
                      </a:r>
                      <a:r>
                        <a:rPr lang="en-US" sz="1050"/>
                        <a:t>smoke-</a:t>
                      </a:r>
                      <a:r>
                        <a:rPr lang="ru-RU" sz="105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QA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Выполнить откат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DevOps </a:t>
                      </a:r>
                      <a:r>
                        <a:rPr lang="ru-RU" sz="1050" dirty="0"/>
                        <a:t>инженер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1 000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667029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Уведомить заказчика о внедрении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Менеджер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250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659230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405CF7E-CF3F-A025-C8F7-AE80B57F5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267518"/>
              </p:ext>
            </p:extLst>
          </p:nvPr>
        </p:nvGraphicFramePr>
        <p:xfrm>
          <a:off x="838200" y="4872376"/>
          <a:ext cx="10494526" cy="110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Релиз внедрен без замечаний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3,10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3 875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Требуется устранение инфраструктурных замечаний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3,90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4 875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Требуется исправление или откат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3,70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4 625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88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406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76F7-19C1-6464-AB98-8374714E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F729F-DC3C-C04B-8596-580D4E5A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Итог альтернативы 1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7CC4E29-E073-94D3-A43D-493B47327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44939"/>
              </p:ext>
            </p:extLst>
          </p:nvPr>
        </p:nvGraphicFramePr>
        <p:xfrm>
          <a:off x="838200" y="1150574"/>
          <a:ext cx="10484795" cy="2204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010">
                  <a:extLst>
                    <a:ext uri="{9D8B030D-6E8A-4147-A177-3AD203B41FA5}">
                      <a16:colId xmlns:a16="http://schemas.microsoft.com/office/drawing/2014/main" val="1263570803"/>
                    </a:ext>
                  </a:extLst>
                </a:gridCol>
                <a:gridCol w="997062">
                  <a:extLst>
                    <a:ext uri="{9D8B030D-6E8A-4147-A177-3AD203B41FA5}">
                      <a16:colId xmlns:a16="http://schemas.microsoft.com/office/drawing/2014/main" val="3536161143"/>
                    </a:ext>
                  </a:extLst>
                </a:gridCol>
                <a:gridCol w="1108954">
                  <a:extLst>
                    <a:ext uri="{9D8B030D-6E8A-4147-A177-3AD203B41FA5}">
                      <a16:colId xmlns:a16="http://schemas.microsoft.com/office/drawing/2014/main" val="2349346881"/>
                    </a:ext>
                  </a:extLst>
                </a:gridCol>
                <a:gridCol w="992221">
                  <a:extLst>
                    <a:ext uri="{9D8B030D-6E8A-4147-A177-3AD203B41FA5}">
                      <a16:colId xmlns:a16="http://schemas.microsoft.com/office/drawing/2014/main" val="639378622"/>
                    </a:ext>
                  </a:extLst>
                </a:gridCol>
                <a:gridCol w="1079770">
                  <a:extLst>
                    <a:ext uri="{9D8B030D-6E8A-4147-A177-3AD203B41FA5}">
                      <a16:colId xmlns:a16="http://schemas.microsoft.com/office/drawing/2014/main" val="490432448"/>
                    </a:ext>
                  </a:extLst>
                </a:gridCol>
                <a:gridCol w="1428714">
                  <a:extLst>
                    <a:ext uri="{9D8B030D-6E8A-4147-A177-3AD203B41FA5}">
                      <a16:colId xmlns:a16="http://schemas.microsoft.com/office/drawing/2014/main" val="1828465641"/>
                    </a:ext>
                  </a:extLst>
                </a:gridCol>
                <a:gridCol w="1045658">
                  <a:extLst>
                    <a:ext uri="{9D8B030D-6E8A-4147-A177-3AD203B41FA5}">
                      <a16:colId xmlns:a16="http://schemas.microsoft.com/office/drawing/2014/main" val="550248042"/>
                    </a:ext>
                  </a:extLst>
                </a:gridCol>
                <a:gridCol w="1105406">
                  <a:extLst>
                    <a:ext uri="{9D8B030D-6E8A-4147-A177-3AD203B41FA5}">
                      <a16:colId xmlns:a16="http://schemas.microsoft.com/office/drawing/2014/main" val="984496203"/>
                    </a:ext>
                  </a:extLst>
                </a:gridCol>
              </a:tblGrid>
              <a:tr h="283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Процесс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AS-IS E(T)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TO-BE E(T)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AS-IS E(C)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TO-BE E(C)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OFRAG TO-BE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Экономия времени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Экономия стоимости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884721825"/>
                  </a:ext>
                </a:extLst>
              </a:tr>
              <a:tr h="49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Спроектировать новый функционал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7,19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3,38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9 025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4 428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36,7%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53,0%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50,9%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41010392"/>
                  </a:ext>
                </a:extLst>
              </a:tr>
              <a:tr h="49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Разработать и протестировать модуль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15,70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10,58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dirty="0"/>
                        <a:t>20 393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13 225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0,0%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32,6%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35,2%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4599786"/>
                  </a:ext>
                </a:extLst>
              </a:tr>
              <a:tr h="400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Внедрить программный модуль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6,30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3,24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7 633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4 055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0,0%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48,6%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/>
                        <a:t>46,9%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17990993"/>
                  </a:ext>
                </a:extLst>
              </a:tr>
              <a:tr h="16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/>
                        <a:t>Итого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/>
                        <a:t>29,19 ч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/>
                        <a:t>17,20 ч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/>
                        <a:t>37 051 ₽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/>
                        <a:t>21 708 ₽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/>
                        <a:t>12,2%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/>
                        <a:t>41,1%</a:t>
                      </a:r>
                      <a:endParaRPr lang="ru-RU" sz="14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400" b="1" dirty="0"/>
                        <a:t>41,4%</a:t>
                      </a:r>
                      <a:endParaRPr lang="ru-RU" sz="1400" dirty="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828383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79F3B1-4BC4-2821-1349-73E4E258CB6F}"/>
              </a:ext>
            </a:extLst>
          </p:cNvPr>
          <p:cNvSpPr txBox="1"/>
          <p:nvPr/>
        </p:nvSpPr>
        <p:spPr>
          <a:xfrm>
            <a:off x="838200" y="4784096"/>
            <a:ext cx="10241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Вывод: альтернатива 1 дает заметное снижение времени и стоимости.</a:t>
            </a:r>
          </a:p>
        </p:txBody>
      </p:sp>
    </p:spTree>
    <p:extLst>
      <p:ext uri="{BB962C8B-B14F-4D97-AF65-F5344CB8AC3E}">
        <p14:creationId xmlns:p14="http://schemas.microsoft.com/office/powerpoint/2010/main" val="2863006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40D9E-4F70-0C1C-8F45-509E21AA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B4672-D7A4-9524-5903-47E66F0B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2: реинжиниринг и продуктовая команда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F6DD2-6558-9818-1A28-BE406B9A1E3A}"/>
              </a:ext>
            </a:extLst>
          </p:cNvPr>
          <p:cNvSpPr txBox="1"/>
          <p:nvPr/>
        </p:nvSpPr>
        <p:spPr>
          <a:xfrm>
            <a:off x="838199" y="844394"/>
            <a:ext cx="10669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Альтернатива 2 предполагает более глубокую перестройку процессов: создание продуктовой команды, которая отвечает за функционал от запроса до внедрения.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B24FDCD-B9A7-2E13-8150-7C216F803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5656"/>
              </p:ext>
            </p:extLst>
          </p:nvPr>
        </p:nvGraphicFramePr>
        <p:xfrm>
          <a:off x="838200" y="2081054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5890189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565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Блок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Содержание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69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Организационная логика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Все ключевые функции объединяются в одной продуктовой команде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815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Процессные изменения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Запросы попадают в единый backlog, разработка и тестирование идут в рамках спринта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33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Информационные изменения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Используются автопроверки требований, CI/CD, автотесты, автоматизированный релиз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35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Ожидаемый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Максимальное сокращение времени, стоимости и организационной фрагментарности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63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Риск внедрения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Средний, так как требуется изменение организационной модели и регламентов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428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334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6F8A-9911-442D-3D2F-B4B9AFB0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98D07-D49D-0035-6E6D-A1A248AFE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EPC-модель: Альтернатива 2 — процесс «Спроектировать новый функционал»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210D0-6198-2E05-ECA5-32131DA8A4E5}"/>
              </a:ext>
            </a:extLst>
          </p:cNvPr>
          <p:cNvSpPr txBox="1"/>
          <p:nvPr/>
        </p:nvSpPr>
        <p:spPr>
          <a:xfrm>
            <a:off x="6507804" y="2274838"/>
            <a:ext cx="53793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было изменено в </a:t>
            </a:r>
            <a:r>
              <a:rPr lang="en-US" dirty="0" err="1"/>
              <a:t>epc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Запрос на новый функционал сразу попадает в </a:t>
            </a:r>
            <a:r>
              <a:rPr lang="ru-RU" dirty="0" err="1"/>
              <a:t>backlog</a:t>
            </a:r>
            <a:r>
              <a:rPr lang="ru-RU" dirty="0"/>
              <a:t> продуктовой команды. Вместо последовательной передачи между заказчиком, менеджером продукта, аналитиком и архитектором запрос оформляется как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story</a:t>
            </a:r>
            <a:r>
              <a:rPr lang="ru-RU" dirty="0"/>
              <a:t> с критериями приемки. Проверка требований и оценка влияния на сервисы выполняются внутри одного продуктового контура.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E08A46-E6FE-4204-858B-F1CD50F5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99" y="1225684"/>
            <a:ext cx="2771196" cy="531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38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08B8-0E9D-FB51-5680-64B0223D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D126A-0714-9063-C061-50AC9ED71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</a:t>
            </a:r>
            <a:r>
              <a:rPr lang="en-US" sz="3200" dirty="0"/>
              <a:t>2</a:t>
            </a:r>
            <a:r>
              <a:rPr lang="ru-RU" sz="3200" dirty="0"/>
              <a:t>: процесс 1 — TO-BE расчет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0660E7B2-7791-C2F1-73AC-F1414D4A0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243245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1,83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0,80 ч / 2,60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2 233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976 ₽ / 3 172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5B8EC7F-AEC2-30DF-FDC0-F4035F3A2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690601"/>
              </p:ext>
            </p:extLst>
          </p:nvPr>
        </p:nvGraphicFramePr>
        <p:xfrm>
          <a:off x="848736" y="1825625"/>
          <a:ext cx="10494525" cy="1877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441482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Автоматически зарегистрировать запрос в </a:t>
                      </a:r>
                      <a:r>
                        <a:rPr lang="ru-RU" sz="1050" dirty="0" err="1"/>
                        <a:t>backlog</a:t>
                      </a:r>
                      <a:endParaRPr lang="ru-RU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0,10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122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Описать запрос как </a:t>
                      </a:r>
                      <a:r>
                        <a:rPr lang="ru-RU" sz="1050" dirty="0" err="1"/>
                        <a:t>user</a:t>
                      </a:r>
                      <a:r>
                        <a:rPr lang="ru-RU" sz="1050" dirty="0"/>
                        <a:t> </a:t>
                      </a:r>
                      <a:r>
                        <a:rPr lang="ru-RU" sz="1050" dirty="0" err="1"/>
                        <a:t>story</a:t>
                      </a:r>
                      <a:endParaRPr lang="ru-RU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610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Автоматически оценить влияние на сервисы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488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Подготовить архитектурное решение по шаблону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732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Принять </a:t>
                      </a:r>
                      <a:r>
                        <a:rPr lang="ru-RU" sz="1050" dirty="0" err="1"/>
                        <a:t>user</a:t>
                      </a:r>
                      <a:r>
                        <a:rPr lang="ru-RU" sz="1050" dirty="0"/>
                        <a:t> </a:t>
                      </a:r>
                      <a:r>
                        <a:rPr lang="ru-RU" sz="1050" dirty="0" err="1"/>
                        <a:t>story</a:t>
                      </a:r>
                      <a:r>
                        <a:rPr lang="ru-RU" sz="1050" dirty="0"/>
                        <a:t> в разработку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244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Доработать </a:t>
                      </a:r>
                      <a:r>
                        <a:rPr lang="ru-RU" sz="1050" dirty="0" err="1"/>
                        <a:t>user</a:t>
                      </a:r>
                      <a:r>
                        <a:rPr lang="ru-RU" sz="1050" dirty="0"/>
                        <a:t> </a:t>
                      </a:r>
                      <a:r>
                        <a:rPr lang="ru-RU" sz="1050" dirty="0" err="1"/>
                        <a:t>story</a:t>
                      </a:r>
                      <a:r>
                        <a:rPr lang="ru-RU" sz="1050" dirty="0"/>
                        <a:t> по правилам </a:t>
                      </a:r>
                      <a:r>
                        <a:rPr lang="ru-RU" sz="1050" dirty="0" err="1"/>
                        <a:t>backlog</a:t>
                      </a:r>
                      <a:endParaRPr lang="ru-RU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488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64938B9-AA30-774B-B7FB-529662E14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66152"/>
              </p:ext>
            </p:extLst>
          </p:nvPr>
        </p:nvGraphicFramePr>
        <p:xfrm>
          <a:off x="848736" y="3982033"/>
          <a:ext cx="10494526" cy="136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Запрос принят без доработки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2 196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Требуется уточнение </a:t>
                      </a:r>
                      <a:r>
                        <a:rPr lang="en-US" sz="1050" dirty="0"/>
                        <a:t>user 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3 172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Требуется уточнение архитектуры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3 172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821367"/>
                  </a:ext>
                </a:extLst>
              </a:tr>
              <a:tr h="336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Запрос отклонен или перенесен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976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88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895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B36F-2728-04E3-2B91-EE0A9AEDA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33DE0-E841-7EBD-5E07-7E01E8026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EPC-модель: Альтернатива 2 — процесс «Разработать и протестировать программный модуль»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3DEF6-F326-B971-4EA7-DB247CB610B5}"/>
              </a:ext>
            </a:extLst>
          </p:cNvPr>
          <p:cNvSpPr txBox="1"/>
          <p:nvPr/>
        </p:nvSpPr>
        <p:spPr>
          <a:xfrm>
            <a:off x="6507804" y="2274838"/>
            <a:ext cx="53793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было изменено в </a:t>
            </a:r>
            <a:r>
              <a:rPr lang="en-US" dirty="0" err="1"/>
              <a:t>epc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Разработка, ревью и тестирование объединяются в спринте продуктовой команды. Модуль создается по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story</a:t>
            </a:r>
            <a:r>
              <a:rPr lang="ru-RU" dirty="0"/>
              <a:t> из </a:t>
            </a:r>
            <a:r>
              <a:rPr lang="ru-RU" dirty="0" err="1"/>
              <a:t>backlog</a:t>
            </a:r>
            <a:r>
              <a:rPr lang="ru-RU" dirty="0"/>
              <a:t>, проверки запускаются автоматически, а замечания исправляются внутри спринта без передачи между отдельными ролями руководителя разработки, разработчика, ведущего разработчика и QA-инженера.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EFE6D7-564C-DC81-6254-70C61F8F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62" y="1184539"/>
            <a:ext cx="4051251" cy="550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1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8E978-9CB5-7FEB-DF5E-8B3DC795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B43EB-0116-AAF3-31B5-1244ECB0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2: процесс 2 — TO-BE расчет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EFA431D-5E01-9F0D-15FA-9143D9D5D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25673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6,62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6,50 ч / 7,30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8 076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7 930 ₽ / 8 906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799D66B-F6D1-D0D6-2FE4-C3524536C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95105"/>
              </p:ext>
            </p:extLst>
          </p:nvPr>
        </p:nvGraphicFramePr>
        <p:xfrm>
          <a:off x="848736" y="1825625"/>
          <a:ext cx="10494525" cy="1877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441482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Взять </a:t>
                      </a:r>
                      <a:r>
                        <a:rPr lang="en-US" sz="1050" dirty="0"/>
                        <a:t>user story </a:t>
                      </a:r>
                      <a:r>
                        <a:rPr lang="ru-RU" sz="1050" dirty="0"/>
                        <a:t>из </a:t>
                      </a:r>
                      <a:r>
                        <a:rPr lang="en-US" sz="1050" dirty="0"/>
                        <a:t>backlog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366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Декомпозировать задачу в спринте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488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Разработать программный модуль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5 490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Запустить автоматические тесты и </a:t>
                      </a:r>
                      <a:r>
                        <a:rPr lang="ru-RU" sz="1050" dirty="0" err="1"/>
                        <a:t>review</a:t>
                      </a:r>
                      <a:endParaRPr lang="ru-RU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1 220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Исправить замечания спринта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976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Подтвердить готовность к релизу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366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380789B-13B9-AB9D-11F0-E7E017215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642150"/>
              </p:ext>
            </p:extLst>
          </p:nvPr>
        </p:nvGraphicFramePr>
        <p:xfrm>
          <a:off x="848736" y="3982033"/>
          <a:ext cx="10494526" cy="76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Модуль готов без исправлений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6,50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7 930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Требуются исправления спринта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7,30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8 906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201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22A2-61BD-4156-6F0B-F8C5BDA6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CC2B8-10C7-2093-2461-1DC5E982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59"/>
            <a:ext cx="11049000" cy="788461"/>
          </a:xfrm>
        </p:spPr>
        <p:txBody>
          <a:bodyPr>
            <a:noAutofit/>
          </a:bodyPr>
          <a:lstStyle/>
          <a:p>
            <a:r>
              <a:rPr lang="ru-RU" sz="3200" dirty="0"/>
              <a:t>EPC-модель: Альтернатива 2 — процесс «Внедрить программный модуль»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CFD9D-7D84-CCFE-7489-B5F58B05CCB6}"/>
              </a:ext>
            </a:extLst>
          </p:cNvPr>
          <p:cNvSpPr txBox="1"/>
          <p:nvPr/>
        </p:nvSpPr>
        <p:spPr>
          <a:xfrm>
            <a:off x="6507804" y="2274838"/>
            <a:ext cx="53793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было изменено в </a:t>
            </a:r>
            <a:r>
              <a:rPr lang="en-US" dirty="0" err="1"/>
              <a:t>epc</a:t>
            </a:r>
            <a:r>
              <a:rPr lang="en-US" dirty="0"/>
              <a:t>:</a:t>
            </a:r>
            <a:br>
              <a:rPr lang="ru-RU" dirty="0"/>
            </a:br>
            <a:r>
              <a:rPr lang="ru-RU" dirty="0"/>
              <a:t>Внедрение переводится в автоматизированный CI/CD </a:t>
            </a:r>
            <a:r>
              <a:rPr lang="ru-RU" dirty="0" err="1"/>
              <a:t>pipeline</a:t>
            </a:r>
            <a:r>
              <a:rPr lang="ru-RU" dirty="0"/>
              <a:t>. План релиза, проверка инфраструктуры, подготовка конфигураций, развертывание, </a:t>
            </a:r>
            <a:r>
              <a:rPr lang="ru-RU" dirty="0" err="1"/>
              <a:t>smoke</a:t>
            </a:r>
            <a:r>
              <a:rPr lang="ru-RU" dirty="0"/>
              <a:t>-тест и уведомление заказчика выполняются в одном потоке продуктовой команды. При ошибке запускается откат.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5156C9-5724-58AC-170A-BF190F027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91" y="1108954"/>
            <a:ext cx="3237293" cy="554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86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960F-C2D1-14F7-93E5-5DCEEC72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9ABCD-70DB-3ABC-24DD-06C2FC9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Альтернатива 2: процесс 3 — TO-BE расчет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85D992C5-6A1F-8326-6642-446258EF5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73899"/>
              </p:ext>
            </p:extLst>
          </p:nvPr>
        </p:nvGraphicFramePr>
        <p:xfrm>
          <a:off x="848737" y="1138136"/>
          <a:ext cx="10494525" cy="54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05">
                  <a:extLst>
                    <a:ext uri="{9D8B030D-6E8A-4147-A177-3AD203B41FA5}">
                      <a16:colId xmlns:a16="http://schemas.microsoft.com/office/drawing/2014/main" val="1223219212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893112497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6713350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1147625620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480157678"/>
                    </a:ext>
                  </a:extLst>
                </a:gridCol>
              </a:tblGrid>
              <a:tr h="2724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Среднее время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Средняя стоимость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E(C)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Min / Max </a:t>
                      </a:r>
                      <a:r>
                        <a:rPr lang="ru-RU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стоимости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OFRAG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7922768"/>
                  </a:ext>
                </a:extLst>
              </a:tr>
              <a:tr h="2724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1,88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1,80 ч / 2,60 ч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2 294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2 196 ₽ / 3 172 ₽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4325721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DE6C3AA-08E2-F45A-0CF0-42622AAFF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679784"/>
              </p:ext>
            </p:extLst>
          </p:nvPr>
        </p:nvGraphicFramePr>
        <p:xfrm>
          <a:off x="848736" y="1825625"/>
          <a:ext cx="10494525" cy="2438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328">
                  <a:extLst>
                    <a:ext uri="{9D8B030D-6E8A-4147-A177-3AD203B41FA5}">
                      <a16:colId xmlns:a16="http://schemas.microsoft.com/office/drawing/2014/main" val="3690535204"/>
                    </a:ext>
                  </a:extLst>
                </a:gridCol>
                <a:gridCol w="3441482">
                  <a:extLst>
                    <a:ext uri="{9D8B030D-6E8A-4147-A177-3AD203B41FA5}">
                      <a16:colId xmlns:a16="http://schemas.microsoft.com/office/drawing/2014/main" val="414018475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06542235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4189840921"/>
                    </a:ext>
                  </a:extLst>
                </a:gridCol>
                <a:gridCol w="2098905">
                  <a:extLst>
                    <a:ext uri="{9D8B030D-6E8A-4147-A177-3AD203B41FA5}">
                      <a16:colId xmlns:a16="http://schemas.microsoft.com/office/drawing/2014/main" val="317251948"/>
                    </a:ext>
                  </a:extLst>
                </a:gridCol>
              </a:tblGrid>
              <a:tr h="172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Код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Исполнитель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107157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Автоматически сформировать план релиза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244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591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Подготовить конфигурацию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488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66900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Запустить проверку инфраструктуры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0,30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366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50618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Устранить инфраструктурные ограничения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244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287048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Выполнить развертывание через </a:t>
                      </a:r>
                      <a:r>
                        <a:rPr lang="en-US" sz="1050" dirty="0"/>
                        <a:t>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488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934476"/>
                  </a:ext>
                </a:extLst>
              </a:tr>
              <a:tr h="21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Провести </a:t>
                      </a:r>
                      <a:r>
                        <a:rPr lang="en-US" sz="1050" dirty="0"/>
                        <a:t>smoke-</a:t>
                      </a:r>
                      <a:r>
                        <a:rPr lang="ru-RU" sz="1050" dirty="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488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17304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Выполнить откат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0,60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732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288406"/>
                  </a:ext>
                </a:extLst>
              </a:tr>
              <a:tr h="309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Автоматически уведомить заказчика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Продуктовая команда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0,10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122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09627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4CFB61D-FB38-BFED-2246-0EA11BED0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9144"/>
              </p:ext>
            </p:extLst>
          </p:nvPr>
        </p:nvGraphicFramePr>
        <p:xfrm>
          <a:off x="838200" y="4406725"/>
          <a:ext cx="10494526" cy="1027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724">
                  <a:extLst>
                    <a:ext uri="{9D8B030D-6E8A-4147-A177-3AD203B41FA5}">
                      <a16:colId xmlns:a16="http://schemas.microsoft.com/office/drawing/2014/main" val="1685374718"/>
                    </a:ext>
                  </a:extLst>
                </a:gridCol>
                <a:gridCol w="1021404">
                  <a:extLst>
                    <a:ext uri="{9D8B030D-6E8A-4147-A177-3AD203B41FA5}">
                      <a16:colId xmlns:a16="http://schemas.microsoft.com/office/drawing/2014/main" val="125290381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4164883408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532498862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1301357787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1362599553"/>
                    </a:ext>
                  </a:extLst>
                </a:gridCol>
                <a:gridCol w="1002760">
                  <a:extLst>
                    <a:ext uri="{9D8B030D-6E8A-4147-A177-3AD203B41FA5}">
                      <a16:colId xmlns:a16="http://schemas.microsoft.com/office/drawing/2014/main" val="1759004553"/>
                    </a:ext>
                  </a:extLst>
                </a:gridCol>
              </a:tblGrid>
              <a:tr h="184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/>
                        <a:t>Ветвь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T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C</a:t>
                      </a:r>
                      <a:r>
                        <a:rPr lang="ru-RU" sz="1050"/>
                        <a:t>ветви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FTR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50"/>
                        <a:t>OFRAG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876712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Релиз успешно внедрен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1,80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2 196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069106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Требуется устранить инфраструктурные ограничения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2,00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2 440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62757"/>
                  </a:ext>
                </a:extLst>
              </a:tr>
              <a:tr h="25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050" dirty="0"/>
                        <a:t>Требуется откат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2,40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3 172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050" dirty="0"/>
                        <a:t>0,0%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9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004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4B70-DD57-5A7B-A16A-B74C15885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69D2A-C651-5F11-F29B-81D62D5C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Итог альтернативы 2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A446CB7-8386-7809-2867-01256EFA9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557470"/>
              </p:ext>
            </p:extLst>
          </p:nvPr>
        </p:nvGraphicFramePr>
        <p:xfrm>
          <a:off x="838200" y="1037966"/>
          <a:ext cx="10815536" cy="3595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407810778"/>
                    </a:ext>
                  </a:extLst>
                </a:gridCol>
                <a:gridCol w="1060315">
                  <a:extLst>
                    <a:ext uri="{9D8B030D-6E8A-4147-A177-3AD203B41FA5}">
                      <a16:colId xmlns:a16="http://schemas.microsoft.com/office/drawing/2014/main" val="1023109353"/>
                    </a:ext>
                  </a:extLst>
                </a:gridCol>
                <a:gridCol w="1070042">
                  <a:extLst>
                    <a:ext uri="{9D8B030D-6E8A-4147-A177-3AD203B41FA5}">
                      <a16:colId xmlns:a16="http://schemas.microsoft.com/office/drawing/2014/main" val="1277500793"/>
                    </a:ext>
                  </a:extLst>
                </a:gridCol>
                <a:gridCol w="1040860">
                  <a:extLst>
                    <a:ext uri="{9D8B030D-6E8A-4147-A177-3AD203B41FA5}">
                      <a16:colId xmlns:a16="http://schemas.microsoft.com/office/drawing/2014/main" val="3890816905"/>
                    </a:ext>
                  </a:extLst>
                </a:gridCol>
                <a:gridCol w="1215957">
                  <a:extLst>
                    <a:ext uri="{9D8B030D-6E8A-4147-A177-3AD203B41FA5}">
                      <a16:colId xmlns:a16="http://schemas.microsoft.com/office/drawing/2014/main" val="2422996930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1938462026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3963792894"/>
                    </a:ext>
                  </a:extLst>
                </a:gridCol>
                <a:gridCol w="1167319">
                  <a:extLst>
                    <a:ext uri="{9D8B030D-6E8A-4147-A177-3AD203B41FA5}">
                      <a16:colId xmlns:a16="http://schemas.microsoft.com/office/drawing/2014/main" val="835830531"/>
                    </a:ext>
                  </a:extLst>
                </a:gridCol>
              </a:tblGrid>
              <a:tr h="428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Процесс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AS-IS E(T)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TO-BE E(T)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dirty="0"/>
                        <a:t>AS-IS E(C)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 dirty="0"/>
                        <a:t>TO-BE E(C)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500"/>
                        <a:t>OFRAG TO-BE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dirty="0"/>
                        <a:t>Экономия времени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Экономия стоимости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012128013"/>
                  </a:ext>
                </a:extLst>
              </a:tr>
              <a:tr h="979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Спроектировать новый функционал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7,19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1,83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9 025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2 233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0,0%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74,5%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75,3%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09073091"/>
                  </a:ext>
                </a:extLst>
              </a:tr>
              <a:tr h="979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Разработать и протестировать модуль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15,70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6,62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20 393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8 076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dirty="0"/>
                        <a:t>0,0%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57,8%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60,4%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82292022"/>
                  </a:ext>
                </a:extLst>
              </a:tr>
              <a:tr h="795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/>
                        <a:t>Внедрить программный модуль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6,30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dirty="0"/>
                        <a:t>1,88 ч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7 633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2 294 ₽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0,0%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70,2%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/>
                        <a:t>69,9%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795233891"/>
                  </a:ext>
                </a:extLst>
              </a:tr>
              <a:tr h="244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/>
                        <a:t>Итого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/>
                        <a:t>29,19 ч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/>
                        <a:t>10,33 ч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/>
                        <a:t>37 051 ₽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/>
                        <a:t>12 603 ₽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/>
                        <a:t>0,0%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/>
                        <a:t>64,6%</a:t>
                      </a:r>
                      <a:endParaRPr lang="ru-RU" sz="1500"/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500" b="1" dirty="0"/>
                        <a:t>66,0%</a:t>
                      </a:r>
                      <a:endParaRPr lang="ru-RU" sz="1500" dirty="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06923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00A089-9160-EF55-1619-51F6AF523ACA}"/>
              </a:ext>
            </a:extLst>
          </p:cNvPr>
          <p:cNvSpPr txBox="1"/>
          <p:nvPr/>
        </p:nvSpPr>
        <p:spPr>
          <a:xfrm>
            <a:off x="838199" y="4927400"/>
            <a:ext cx="10815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Вывод: альтернатива 2 дает максимальный эффект: процессы объединяются в продуктовой команде, ручные передачи сокращаются, проверки и релизы автоматизируются.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3051729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3DF4-9066-82F6-BBC1-5F9FFABF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D85BE-8BFC-7B14-8019-19FB099A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Сравнение альтернатив и выбор решения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E21A114-3606-B8A6-DCF8-11A0FD5A1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41091"/>
              </p:ext>
            </p:extLst>
          </p:nvPr>
        </p:nvGraphicFramePr>
        <p:xfrm>
          <a:off x="838198" y="1291168"/>
          <a:ext cx="1051560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828">
                  <a:extLst>
                    <a:ext uri="{9D8B030D-6E8A-4147-A177-3AD203B41FA5}">
                      <a16:colId xmlns:a16="http://schemas.microsoft.com/office/drawing/2014/main" val="1760271838"/>
                    </a:ext>
                  </a:extLst>
                </a:gridCol>
                <a:gridCol w="1459148">
                  <a:extLst>
                    <a:ext uri="{9D8B030D-6E8A-4147-A177-3AD203B41FA5}">
                      <a16:colId xmlns:a16="http://schemas.microsoft.com/office/drawing/2014/main" val="1640951897"/>
                    </a:ext>
                  </a:extLst>
                </a:gridCol>
                <a:gridCol w="1439694">
                  <a:extLst>
                    <a:ext uri="{9D8B030D-6E8A-4147-A177-3AD203B41FA5}">
                      <a16:colId xmlns:a16="http://schemas.microsoft.com/office/drawing/2014/main" val="968850083"/>
                    </a:ext>
                  </a:extLst>
                </a:gridCol>
                <a:gridCol w="1167319">
                  <a:extLst>
                    <a:ext uri="{9D8B030D-6E8A-4147-A177-3AD203B41FA5}">
                      <a16:colId xmlns:a16="http://schemas.microsoft.com/office/drawing/2014/main" val="354008189"/>
                    </a:ext>
                  </a:extLst>
                </a:gridCol>
                <a:gridCol w="1355156">
                  <a:extLst>
                    <a:ext uri="{9D8B030D-6E8A-4147-A177-3AD203B41FA5}">
                      <a16:colId xmlns:a16="http://schemas.microsoft.com/office/drawing/2014/main" val="34415466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9012057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59257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Вариант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E(T) по 3 процессам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E(C) по 3 процессам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Средний </a:t>
                      </a:r>
                      <a:r>
                        <a:rPr lang="en-US" sz="1800"/>
                        <a:t>OFRAG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Снижение времени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Снижение стоимости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Решение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4642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AS-IS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29,19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37 051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62,9%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База сравнения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0211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Альтернатива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17,20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21 708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12,2%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 dirty="0"/>
                        <a:t>41,1%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41,4%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Резервный вариант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51456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Альтернатива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10,33 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12 603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0,0%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64,6%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800"/>
                        <a:t>66,0%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Выбранный вариант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6044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B83D70-2790-BEC6-7182-7F1C7E198BA1}"/>
              </a:ext>
            </a:extLst>
          </p:cNvPr>
          <p:cNvSpPr txBox="1"/>
          <p:nvPr/>
        </p:nvSpPr>
        <p:spPr>
          <a:xfrm>
            <a:off x="838198" y="4121260"/>
            <a:ext cx="106015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Обоснованный выбор</a:t>
            </a:r>
            <a:endParaRPr lang="ru-RU" dirty="0"/>
          </a:p>
          <a:p>
            <a:pPr>
              <a:buNone/>
            </a:pPr>
            <a:r>
              <a:rPr lang="ru-RU" dirty="0"/>
              <a:t>Выбирается Альтернатива 2: реинжиниринг и продуктовая команда, потому что она:</a:t>
            </a:r>
          </a:p>
          <a:p>
            <a:pPr>
              <a:buFont typeface="+mj-lt"/>
              <a:buAutoNum type="arabicPeriod"/>
            </a:pPr>
            <a:r>
              <a:rPr lang="ru-RU" dirty="0"/>
              <a:t> Дает наибольшее сокращение времени — 64,6%; </a:t>
            </a:r>
          </a:p>
          <a:p>
            <a:pPr>
              <a:buFont typeface="+mj-lt"/>
              <a:buAutoNum type="arabicPeriod"/>
            </a:pPr>
            <a:r>
              <a:rPr lang="ru-RU" dirty="0"/>
              <a:t> Дает наибольшее сокращение стоимости — 66,0%; </a:t>
            </a:r>
          </a:p>
          <a:p>
            <a:pPr>
              <a:buFont typeface="+mj-lt"/>
              <a:buAutoNum type="arabicPeriod"/>
            </a:pPr>
            <a:r>
              <a:rPr lang="ru-RU" dirty="0"/>
              <a:t> Полностью устраняет организационную фрагментарность — OFRAG = 0,0%; </a:t>
            </a:r>
          </a:p>
          <a:p>
            <a:pPr>
              <a:buFont typeface="+mj-lt"/>
              <a:buAutoNum type="arabicPeriod"/>
            </a:pPr>
            <a:r>
              <a:rPr lang="ru-RU" dirty="0"/>
              <a:t> Создает основу для масштабирования разработки нового функционала. </a:t>
            </a:r>
          </a:p>
          <a:p>
            <a:pPr>
              <a:buNone/>
            </a:pPr>
            <a:r>
              <a:rPr lang="ru-RU" b="1" dirty="0"/>
              <a:t>Почему не альтернатива 1:</a:t>
            </a:r>
            <a:r>
              <a:rPr lang="ru-RU" dirty="0"/>
              <a:t> она проще во внедрении, но сохраняет часть организационных переходов в проектировании нового функционала и дает меньший экономический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4241496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2714-9AC5-D070-DBB0-995EC228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3A96C-0288-1845-6F2E-435E03EB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Стоимость внедрения выбранного варианта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08DC0F2-B887-5365-B5B4-98DECE578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294404"/>
              </p:ext>
            </p:extLst>
          </p:nvPr>
        </p:nvGraphicFramePr>
        <p:xfrm>
          <a:off x="838200" y="1273982"/>
          <a:ext cx="10689078" cy="483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4278">
                  <a:extLst>
                    <a:ext uri="{9D8B030D-6E8A-4147-A177-3AD203B41FA5}">
                      <a16:colId xmlns:a16="http://schemas.microsoft.com/office/drawing/2014/main" val="1329440240"/>
                    </a:ext>
                  </a:extLst>
                </a:gridCol>
                <a:gridCol w="1955259">
                  <a:extLst>
                    <a:ext uri="{9D8B030D-6E8A-4147-A177-3AD203B41FA5}">
                      <a16:colId xmlns:a16="http://schemas.microsoft.com/office/drawing/2014/main" val="3721121320"/>
                    </a:ext>
                  </a:extLst>
                </a:gridCol>
                <a:gridCol w="2159541">
                  <a:extLst>
                    <a:ext uri="{9D8B030D-6E8A-4147-A177-3AD203B41FA5}">
                      <a16:colId xmlns:a16="http://schemas.microsoft.com/office/drawing/2014/main" val="545363299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 dirty="0"/>
                        <a:t>Работа внедрения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Трудоемкость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Стоимость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194742405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Обследование AS-IS и уточнение целевых процессов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32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39 040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93413225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Формирование продуктовой команды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40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48 800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651077259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Настройка backlog и шаблонов user story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48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58 560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698044686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Настройка автоматической проверки требований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56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68 320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77018909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Внедрение </a:t>
                      </a:r>
                      <a:r>
                        <a:rPr lang="en-US" sz="1600" b="0"/>
                        <a:t>CI/CD pipeline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96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117 120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62102989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Настройка автотестов и code review checks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80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97 600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2680802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Настройка автоматического релизного процесса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 dirty="0"/>
                        <a:t>72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87 840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23964231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Подготовка регламентов работы продуктовой команды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40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48 800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06847260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Обучение участников процесса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32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39 040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161378452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Пилотное внедрение и сопровождение 1 месяц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56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68 320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96907573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/>
                        <a:t>Итого трудовые затраты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1" dirty="0"/>
                        <a:t>552 ч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1" dirty="0"/>
                        <a:t>673 440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7021727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0"/>
                        <a:t>Резерв на риски 15%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—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0"/>
                        <a:t>101 016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65730216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/>
                        <a:t>Общая стоимость внедрения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1" dirty="0"/>
                        <a:t>—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600" b="1" dirty="0"/>
                        <a:t>774 456 ₽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9731429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A392C7-2711-9297-A7B5-EC9C2E331936}"/>
              </a:ext>
            </a:extLst>
          </p:cNvPr>
          <p:cNvSpPr txBox="1"/>
          <p:nvPr/>
        </p:nvSpPr>
        <p:spPr>
          <a:xfrm>
            <a:off x="838200" y="74869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Расчет выполнен для Альтернативы 2</a:t>
            </a:r>
          </a:p>
        </p:txBody>
      </p:sp>
    </p:spTree>
    <p:extLst>
      <p:ext uri="{BB962C8B-B14F-4D97-AF65-F5344CB8AC3E}">
        <p14:creationId xmlns:p14="http://schemas.microsoft.com/office/powerpoint/2010/main" val="396717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FB69-E916-B4F9-2282-154670E2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C53C2-FCF8-611C-423D-44539600C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Экономический эффект от внедрения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3B3BFE3-C982-45D0-EFD0-BE08D5166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21256"/>
              </p:ext>
            </p:extLst>
          </p:nvPr>
        </p:nvGraphicFramePr>
        <p:xfrm>
          <a:off x="838200" y="74869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391">
                  <a:extLst>
                    <a:ext uri="{9D8B030D-6E8A-4147-A177-3AD203B41FA5}">
                      <a16:colId xmlns:a16="http://schemas.microsoft.com/office/drawing/2014/main" val="1721796448"/>
                    </a:ext>
                  </a:extLst>
                </a:gridCol>
                <a:gridCol w="1313235">
                  <a:extLst>
                    <a:ext uri="{9D8B030D-6E8A-4147-A177-3AD203B41FA5}">
                      <a16:colId xmlns:a16="http://schemas.microsoft.com/office/drawing/2014/main" val="441058077"/>
                    </a:ext>
                  </a:extLst>
                </a:gridCol>
                <a:gridCol w="1339174">
                  <a:extLst>
                    <a:ext uri="{9D8B030D-6E8A-4147-A177-3AD203B41FA5}">
                      <a16:colId xmlns:a16="http://schemas.microsoft.com/office/drawing/2014/main" val="7517028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71584228"/>
                    </a:ext>
                  </a:extLst>
                </a:gridCol>
                <a:gridCol w="1509409">
                  <a:extLst>
                    <a:ext uri="{9D8B030D-6E8A-4147-A177-3AD203B41FA5}">
                      <a16:colId xmlns:a16="http://schemas.microsoft.com/office/drawing/2014/main" val="2947059538"/>
                    </a:ext>
                  </a:extLst>
                </a:gridCol>
                <a:gridCol w="1995791">
                  <a:extLst>
                    <a:ext uri="{9D8B030D-6E8A-4147-A177-3AD203B41FA5}">
                      <a16:colId xmlns:a16="http://schemas.microsoft.com/office/drawing/2014/main" val="22865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Процесс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AS-IS E(C)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TO-BE E(C)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Экономия на 1 выполнение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Стоимость реализации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Экономический эффект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610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Спроектировать новый функционал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9 025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2 233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6 792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774 456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/>
                        <a:t>0,009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82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Разработать и протестировать модуль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20 393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8 076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12 317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774 456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0,016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874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Внедрить программный модуль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7 633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2 294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5 339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774 456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/>
                        <a:t>0,007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044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Итого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/>
                        <a:t>37 051 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/>
                        <a:t>12 603 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/>
                        <a:t>24 448 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/>
                        <a:t>774 456 ₽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/>
                        <a:t>0,032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5121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A6C8BF-628B-3752-E8A9-F92EC4BB1A4D}"/>
              </a:ext>
            </a:extLst>
          </p:cNvPr>
          <p:cNvSpPr txBox="1"/>
          <p:nvPr/>
        </p:nvSpPr>
        <p:spPr>
          <a:xfrm>
            <a:off x="838199" y="4397781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Итоговый экономический вывод.</a:t>
            </a:r>
          </a:p>
          <a:p>
            <a:pPr>
              <a:buNone/>
            </a:pPr>
            <a:r>
              <a:rPr lang="ru-RU" dirty="0"/>
              <a:t>Совокупная экономия на одно выполнение трех процессов составляет 24 448 ₽. Экономический эффект на одно выполнение равен 0,032 ₽ эффекта на 1 ₽ затрат. При регулярном выполнении процессов эффект масштабируется пропорционально количеству запусков.</a:t>
            </a:r>
          </a:p>
        </p:txBody>
      </p:sp>
    </p:spTree>
    <p:extLst>
      <p:ext uri="{BB962C8B-B14F-4D97-AF65-F5344CB8AC3E}">
        <p14:creationId xmlns:p14="http://schemas.microsoft.com/office/powerpoint/2010/main" val="912669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D3E3-1394-7B37-746E-6E7009BA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43E268-9CE0-5CF2-CB28-17E25046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1049000" cy="544930"/>
          </a:xfrm>
        </p:spPr>
        <p:txBody>
          <a:bodyPr>
            <a:noAutofit/>
          </a:bodyPr>
          <a:lstStyle/>
          <a:p>
            <a:r>
              <a:rPr lang="ru-RU" sz="3200" dirty="0"/>
              <a:t>Выводы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2DBA49E-F983-E796-2B15-204290553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242568"/>
              </p:ext>
            </p:extLst>
          </p:nvPr>
        </p:nvGraphicFramePr>
        <p:xfrm>
          <a:off x="838199" y="979319"/>
          <a:ext cx="10436158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8079">
                  <a:extLst>
                    <a:ext uri="{9D8B030D-6E8A-4147-A177-3AD203B41FA5}">
                      <a16:colId xmlns:a16="http://schemas.microsoft.com/office/drawing/2014/main" val="2339374817"/>
                    </a:ext>
                  </a:extLst>
                </a:gridCol>
                <a:gridCol w="5218079">
                  <a:extLst>
                    <a:ext uri="{9D8B030D-6E8A-4147-A177-3AD203B41FA5}">
                      <a16:colId xmlns:a16="http://schemas.microsoft.com/office/drawing/2014/main" val="128763448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Направление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Результат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74939304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Количественный анализ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Для трех AS-IS процессов рассчитаны время, стоимость, min/max и ветви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65199151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Качественный анализ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Средний OFRAG AS-IS составляет 62,9%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852733805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Альтернатива 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Стандартизация и единый контур снижают время на 41,1%, стоимость на 41,4%, OFRAG до 12,2%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447202535"/>
                  </a:ext>
                </a:extLst>
              </a:tr>
              <a:tr h="821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Альтернатива 2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Реинжиниринг через продуктовую команду снижает время на 64,6%, стоимость на 66,0%, OFRAG до 0,0%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51839222"/>
                  </a:ext>
                </a:extLst>
              </a:tr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Выбранный вариант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Альтернатива 2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45230120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Экономический эффект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Экономия 24 448 ₽ на одно выполнение трех процессов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92603415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/>
                        <a:t>Главный результат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Процессы становятся быстрее, дешевле и менее фрагментированными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001862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3203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5047</TotalTime>
  <Words>3602</Words>
  <Application>Microsoft Office PowerPoint</Application>
  <PresentationFormat>Широкоэкранный</PresentationFormat>
  <Paragraphs>1206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Тема Office</vt:lpstr>
      <vt:lpstr>Практическая работа №19</vt:lpstr>
      <vt:lpstr>Цель и логика практической работы</vt:lpstr>
      <vt:lpstr>Методика расчета</vt:lpstr>
      <vt:lpstr>Исходные расчетные данные</vt:lpstr>
      <vt:lpstr>AS-IS: исходные процессы из практики №18</vt:lpstr>
      <vt:lpstr>AS-IS: процесс 1 — «Спроектировать новый функционал»</vt:lpstr>
      <vt:lpstr>AS-IS: процесс 2 — «Разработать и протестировать программный модуль»</vt:lpstr>
      <vt:lpstr>AS-IS: процесс 3 — «Внедрить программный модуль»</vt:lpstr>
      <vt:lpstr>Итог AS-IS анализа</vt:lpstr>
      <vt:lpstr>Альтернатива 1: стандартизация и единый контур управления изменениями</vt:lpstr>
      <vt:lpstr>EPC-модель: Альтернатива 1 — процесс «Спроектировать новый функционал»</vt:lpstr>
      <vt:lpstr>Альтернатива 1: процесс 1 — TO-BE расчет</vt:lpstr>
      <vt:lpstr>EPC-модель: Альтернатива 1 — процесс «Разработать и протестировать программный модуль»</vt:lpstr>
      <vt:lpstr>Альтернатива 1: процесс 2 — TO-BE расчет</vt:lpstr>
      <vt:lpstr>EPC-модель: Альтернатива 1 — процесс «Внедрить программный модуль»</vt:lpstr>
      <vt:lpstr>Альтернатива 1: процесс 3 — TO-BE расчет</vt:lpstr>
      <vt:lpstr>Итог альтернативы 1</vt:lpstr>
      <vt:lpstr>Альтернатива 2: реинжиниринг и продуктовая команда</vt:lpstr>
      <vt:lpstr>EPC-модель: Альтернатива 2 — процесс «Спроектировать новый функционал»</vt:lpstr>
      <vt:lpstr>Альтернатива 2: процесс 1 — TO-BE расчет</vt:lpstr>
      <vt:lpstr>EPC-модель: Альтернатива 2 — процесс «Разработать и протестировать программный модуль»</vt:lpstr>
      <vt:lpstr>Альтернатива 2: процесс 2 — TO-BE расчет</vt:lpstr>
      <vt:lpstr>EPC-модель: Альтернатива 2 — процесс «Внедрить программный модуль»</vt:lpstr>
      <vt:lpstr>Альтернатива 2: процесс 3 — TO-BE расчет</vt:lpstr>
      <vt:lpstr>Итог альтернативы 2</vt:lpstr>
      <vt:lpstr>Сравнение альтернатив и выбор решения</vt:lpstr>
      <vt:lpstr>Стоимость внедрения выбранного варианта</vt:lpstr>
      <vt:lpstr>Экономический эффект от внедрения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128</cp:revision>
  <dcterms:created xsi:type="dcterms:W3CDTF">2026-05-15T15:36:17Z</dcterms:created>
  <dcterms:modified xsi:type="dcterms:W3CDTF">2026-05-22T09:11:56Z</dcterms:modified>
</cp:coreProperties>
</file>